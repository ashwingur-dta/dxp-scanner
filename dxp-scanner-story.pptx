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9c5c90f6-e847-43ed-26be-ac0090be675c}">
          <p14:sldIdLst>
            <p14:sldId id="256"/>
            <p14:sldId id="257"/>
          </p14:sldIdLst>
        </p14:section>
        <p14:section name="Solution" id="{3cfc8ec2-6355-3da7-e205-af1a7c1ac379}">
          <p14:sldIdLst>
            <p14:sldId id="258"/>
            <p14:sldId id="259"/>
            <p14:sldId id="260"/>
          </p14:sldIdLst>
        </p14:section>
        <p14:section name="Next" id="{2a8075bd-0780-5cce-e259-d6d919c88382}">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14B8A6"/>
            </a:solidFill>
            <a:effectLst/>
          </c:spPr>
          <c:invertIfNegative val="0"/>
          <c:dLbls>
            <c:numFmt formatCode="0&quot;%&quot;" sourceLinked="0"/>
            <c:txPr>
              <a:bodyPr/>
              <a:lstStyle/>
              <a:p>
                <a:pPr>
                  <a:defRPr b="1" i="0" strike="noStrike" sz="1200" u="none">
                    <a:solidFill>
                      <a:srgbClr val="1E1B4B"/>
                    </a:solidFill>
                    <a:latin typeface="+mn-lt"/>
                  </a:defRPr>
                </a:pPr>
              </a:p>
            </c:txPr>
            <c:showLegendKey val="0"/>
            <c:showVal val="1"/>
            <c:showCatName val="0"/>
            <c:showSerName val="0"/>
            <c:showPercent val="0"/>
            <c:showBubbleSize val="0"/>
            <c:showLeaderLines val="0"/>
          </c:dLbls>
          <c:cat>
            <c:multiLvlStrRef>
              <c:f>Sheet1!$A$2:$A$8</c:f>
              <c:multiLvlStrCache>
                <c:ptCount val="7"/>
                <c:lvl>
                  <c:pt idx="0">
                    <c:v>oaic.gov.au</c:v>
                  </c:pt>
                  <c:pt idx="1">
                    <c:v>treasury.gov.au</c:v>
                  </c:pt>
                  <c:pt idx="2">
                    <c:v>aec.gov.au</c:v>
                  </c:pt>
                  <c:pt idx="3">
                    <c:v>ipaustralia.gov.au</c:v>
                  </c:pt>
                  <c:pt idx="4">
                    <c:v>abs.gov.au</c:v>
                  </c:pt>
                  <c:pt idx="5">
                    <c:v>myGov</c:v>
                  </c:pt>
                  <c:pt idx="6">
                    <c:v>business.gov.au</c:v>
                  </c:pt>
                </c:lvl>
              </c:multiLvlStrCache>
            </c:multiLvlStrRef>
          </c:cat>
          <c:val>
            <c:numRef>
              <c:f>Sheet1!$B$2:$B$8</c:f>
              <c:numCache>
                <c:formatCode>General</c:formatCode>
                <c:ptCount val="7"/>
                <c:pt idx="0">
                  <c:v>67</c:v>
                </c:pt>
                <c:pt idx="1">
                  <c:v>68</c:v>
                </c:pt>
                <c:pt idx="2">
                  <c:v>69</c:v>
                </c:pt>
                <c:pt idx="3">
                  <c:v>69</c:v>
                </c:pt>
                <c:pt idx="4">
                  <c:v>70</c:v>
                </c:pt>
                <c:pt idx="5">
                  <c:v>71</c:v>
                </c:pt>
                <c:pt idx="6">
                  <c:v>75</c:v>
                </c:pt>
              </c:numCache>
            </c:numRef>
          </c:val>
        </c:ser>
        <c:dLbls>
          <c:numFmt formatCode="0&quot;%&quot;" sourceLinked="0"/>
          <c:txPr>
            <a:bodyPr/>
            <a:lstStyle/>
            <a:p>
              <a:pPr>
                <a:defRPr b="1" i="0" strike="noStrike" sz="1200" u="none">
                  <a:solidFill>
                    <a:srgbClr val="1E1B4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E1B4B"/>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Digital Experience Policy: 4 standards, 25 criteria, mandatory for public-facing services. This portal lets any agency check its site by pasting one link. (~20s)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any agency that wants to know where its site stands on the DXP, including teams with a prototype who just want early feedback. Pain: the 25 criteria break down into dozens of individual checks, done by hand or through back and forth with the DTA. Impact: checks get pushed late or skipped, problems surface through complaints, and people relying on accessible services miss out.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portal, self-serve. Paste an address, the scanner checks up to 10 pages like a member of the public (it never fills in forms), and a plain-English report comes back with a PDF. No need to go through the DTA, and no formal assessment is triggered, so it's safe to use on a prototype. (~30s)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min). Open https://d3gzttk0pa47dz.cloudfront.net, paste business.gov.au. Show score, the four standards, one pass, one fail, one 'needs a person'. Download the PDF. Optional: also try www.rba.gov.au or www.aec.gov.au. Temporary workshop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(~30s). Open https://d3gzttk0pa47dz.cloudfront.net/leaderboard. Same check, many agencies: a government-wide view for the first time. Full 150-page scans; scores within 4 points share a rank. Figures as of 14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this surfaced a new pain point: turning policy into code is slow, and policy wording is often too vague to test against (for example, 'the latest version of WCAG' with no level, no reading age, no uptime target). Next we want to automate that step: AI reads each criterion, proposes precise testable checks with the policy quote attached, and a person reviews before anything goes live. Also coming: real-visitor speed data, covering more agencies, tracking progress over time.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937760" cy="14630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017520"/>
            <a:ext cx="4937760" cy="54864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600" b="1" dirty="0">
                <a:solidFill>
                  <a:schemeClr val="tx2"/>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457200" y="4773168"/>
            <a:ext cx="2743200" cy="228600"/>
          </a:xfrm>
          <a:prstGeom prst="rect">
            <a:avLst/>
          </a:prstGeom>
          <a:noFill/>
          <a:ln/>
        </p:spPr>
        <p:txBody>
          <a:bodyPr wrap="square" lIns="0" tIns="0" rIns="0" bIns="0" rtlCol="0" anchor="ctr"/>
          <a:lstStyle/>
          <a:p>
            <a:pPr indent="0" marL="0">
              <a:buNone/>
            </a:pPr>
            <a:r>
              <a:rPr lang="en-US" sz="1000" dirty="0">
                <a:solidFill>
                  <a:schemeClr val="accent6"/>
                </a:solidFill>
              </a:rPr>
              <a:t>DXP Scanner</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457200" y="4773168"/>
            <a:ext cx="2743200" cy="228600"/>
          </a:xfrm>
          <a:prstGeom prst="rect">
            <a:avLst/>
          </a:prstGeom>
          <a:noFill/>
          <a:ln/>
        </p:spPr>
        <p:txBody>
          <a:bodyPr wrap="square" lIns="0" tIns="0" rIns="0" bIns="0" rtlCol="0" anchor="ctr"/>
          <a:lstStyle/>
          <a:p>
            <a:pPr indent="0" marL="0">
              <a:buNone/>
            </a:pPr>
            <a:r>
              <a:rPr lang="en-US" sz="1000" dirty="0">
                <a:solidFill>
                  <a:srgbClr val="C7D2FE"/>
                </a:solidFill>
              </a:rPr>
              <a:t>DXP Scanner</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7D2FE"/>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937760" cy="146304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Check your site against the DXP, instantly</a:t>
            </a:r>
            <a:endParaRPr lang="en-US" sz="4000" dirty="0"/>
          </a:p>
        </p:txBody>
      </p:sp>
      <p:sp>
        <p:nvSpPr>
          <p:cNvPr id="3" name="Text 0"/>
          <p:cNvSpPr/>
          <p:nvPr>
            <p:ph idx="101" type="body" hasCustomPrompt="1"/>
          </p:nvPr>
        </p:nvSpPr>
        <p:spPr>
          <a:xfrm>
            <a:off x="548640" y="3017520"/>
            <a:ext cx="4937760" cy="548640"/>
          </a:xfrm>
          <a:prstGeom prst="rect">
            <a:avLst/>
          </a:prstGeom>
          <a:noFill/>
          <a:ln/>
        </p:spPr>
        <p:txBody>
          <a:bodyPr wrap="square" lIns="0" tIns="0" rIns="0" bIns="0" rtlCol="0" anchor="t"/>
          <a:lstStyle/>
          <a:p>
            <a:pPr indent="0" marL="0">
              <a:buNone/>
            </a:pPr>
            <a:r>
              <a:rPr lang="en-US" sz="2000" dirty="0">
                <a:solidFill>
                  <a:schemeClr val="accent2"/>
                </a:solidFill>
              </a:rPr>
              <a:t>A free public portal for agencies</a:t>
            </a:r>
            <a:endParaRPr lang="en-US" sz="2000" dirty="0"/>
          </a:p>
        </p:txBody>
      </p:sp>
      <p:sp>
        <p:nvSpPr>
          <p:cNvPr id="4" name="Title stat 1"/>
          <p:cNvSpPr/>
          <p:nvPr/>
        </p:nvSpPr>
        <p:spPr>
          <a:xfrm>
            <a:off x="6035040" y="1097280"/>
            <a:ext cx="2651760" cy="868680"/>
          </a:xfrm>
          <a:prstGeom prst="roundRect">
            <a:avLst>
              <a:gd name="adj" fmla="val 14737"/>
            </a:avLst>
          </a:prstGeom>
          <a:solidFill>
            <a:srgbClr val="312E81"/>
          </a:solidFill>
          <a:ln w="12700">
            <a:solidFill>
              <a:srgbClr val="312E81"/>
            </a:solidFill>
            <a:prstDash val="solid"/>
          </a:ln>
        </p:spPr>
      </p:sp>
      <p:sp>
        <p:nvSpPr>
          <p:cNvPr id="5" name="Title stat dot 1"/>
          <p:cNvSpPr/>
          <p:nvPr/>
        </p:nvSpPr>
        <p:spPr>
          <a:xfrm>
            <a:off x="6199632" y="1234440"/>
            <a:ext cx="594360" cy="594360"/>
          </a:xfrm>
          <a:prstGeom prst="ellipse">
            <a:avLst/>
          </a:prstGeom>
          <a:solidFill>
            <a:schemeClr val="accent1"/>
          </a:solidFill>
          <a:ln w="12700">
            <a:solidFill>
              <a:schemeClr val="accent1"/>
            </a:solidFill>
            <a:prstDash val="solid"/>
          </a:ln>
        </p:spPr>
      </p:sp>
      <p:sp>
        <p:nvSpPr>
          <p:cNvPr id="6" name="Text 4"/>
          <p:cNvSpPr txBox="1"/>
          <p:nvPr/>
        </p:nvSpPr>
        <p:spPr>
          <a:xfrm>
            <a:off x="6199632" y="12344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7" name="Text 5"/>
          <p:cNvSpPr txBox="1"/>
          <p:nvPr/>
        </p:nvSpPr>
        <p:spPr>
          <a:xfrm>
            <a:off x="6949440" y="1097280"/>
            <a:ext cx="1645920" cy="868680"/>
          </a:xfrm>
          <a:prstGeom prst="rect">
            <a:avLst/>
          </a:prstGeom>
          <a:noFill/>
          <a:ln/>
        </p:spPr>
        <p:txBody>
          <a:bodyPr wrap="square" lIns="0" tIns="0" rIns="0" bIns="0" rtlCol="0" anchor="ctr"/>
          <a:lstStyle/>
          <a:p>
            <a:pPr indent="0" marL="0">
              <a:buNone/>
            </a:pPr>
            <a:r>
              <a:rPr lang="en-US" sz="1800" b="1" dirty="0">
                <a:solidFill>
                  <a:schemeClr val="bg1"/>
                </a:solidFill>
              </a:rPr>
              <a:t>standards</a:t>
            </a:r>
            <a:endParaRPr lang="en-US" sz="1800" dirty="0"/>
          </a:p>
        </p:txBody>
      </p:sp>
      <p:sp>
        <p:nvSpPr>
          <p:cNvPr id="8" name="Title stat 2"/>
          <p:cNvSpPr/>
          <p:nvPr/>
        </p:nvSpPr>
        <p:spPr>
          <a:xfrm>
            <a:off x="6035040" y="2103120"/>
            <a:ext cx="2651760" cy="868680"/>
          </a:xfrm>
          <a:prstGeom prst="roundRect">
            <a:avLst>
              <a:gd name="adj" fmla="val 14737"/>
            </a:avLst>
          </a:prstGeom>
          <a:solidFill>
            <a:srgbClr val="312E81"/>
          </a:solidFill>
          <a:ln w="12700">
            <a:solidFill>
              <a:srgbClr val="312E81"/>
            </a:solidFill>
            <a:prstDash val="solid"/>
          </a:ln>
        </p:spPr>
      </p:sp>
      <p:sp>
        <p:nvSpPr>
          <p:cNvPr id="9" name="Title stat dot 2"/>
          <p:cNvSpPr/>
          <p:nvPr/>
        </p:nvSpPr>
        <p:spPr>
          <a:xfrm>
            <a:off x="6199632" y="2240280"/>
            <a:ext cx="594360" cy="594360"/>
          </a:xfrm>
          <a:prstGeom prst="ellipse">
            <a:avLst/>
          </a:prstGeom>
          <a:solidFill>
            <a:schemeClr val="accent2"/>
          </a:solidFill>
          <a:ln w="12700">
            <a:solidFill>
              <a:schemeClr val="accent2"/>
            </a:solidFill>
            <a:prstDash val="solid"/>
          </a:ln>
        </p:spPr>
      </p:sp>
      <p:sp>
        <p:nvSpPr>
          <p:cNvPr id="10" name="Text 8"/>
          <p:cNvSpPr txBox="1"/>
          <p:nvPr/>
        </p:nvSpPr>
        <p:spPr>
          <a:xfrm>
            <a:off x="6199632" y="22402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25</a:t>
            </a:r>
            <a:endParaRPr lang="en-US" sz="2000" dirty="0"/>
          </a:p>
        </p:txBody>
      </p:sp>
      <p:sp>
        <p:nvSpPr>
          <p:cNvPr id="11" name="Text 9"/>
          <p:cNvSpPr txBox="1"/>
          <p:nvPr/>
        </p:nvSpPr>
        <p:spPr>
          <a:xfrm>
            <a:off x="6949440" y="2103120"/>
            <a:ext cx="1645920" cy="868680"/>
          </a:xfrm>
          <a:prstGeom prst="rect">
            <a:avLst/>
          </a:prstGeom>
          <a:noFill/>
          <a:ln/>
        </p:spPr>
        <p:txBody>
          <a:bodyPr wrap="square" lIns="0" tIns="0" rIns="0" bIns="0" rtlCol="0" anchor="ctr"/>
          <a:lstStyle/>
          <a:p>
            <a:pPr indent="0" marL="0">
              <a:buNone/>
            </a:pPr>
            <a:r>
              <a:rPr lang="en-US" sz="1800" b="1" dirty="0">
                <a:solidFill>
                  <a:schemeClr val="bg1"/>
                </a:solidFill>
              </a:rPr>
              <a:t>criteria</a:t>
            </a:r>
            <a:endParaRPr lang="en-US" sz="1800" dirty="0"/>
          </a:p>
        </p:txBody>
      </p:sp>
      <p:sp>
        <p:nvSpPr>
          <p:cNvPr id="12" name="Title stat 3"/>
          <p:cNvSpPr/>
          <p:nvPr/>
        </p:nvSpPr>
        <p:spPr>
          <a:xfrm>
            <a:off x="6035040" y="3108960"/>
            <a:ext cx="2651760" cy="868680"/>
          </a:xfrm>
          <a:prstGeom prst="roundRect">
            <a:avLst>
              <a:gd name="adj" fmla="val 14737"/>
            </a:avLst>
          </a:prstGeom>
          <a:solidFill>
            <a:srgbClr val="312E81"/>
          </a:solidFill>
          <a:ln w="12700">
            <a:solidFill>
              <a:srgbClr val="312E81"/>
            </a:solidFill>
            <a:prstDash val="solid"/>
          </a:ln>
        </p:spPr>
      </p:sp>
      <p:sp>
        <p:nvSpPr>
          <p:cNvPr id="13" name="Title stat dot 3"/>
          <p:cNvSpPr/>
          <p:nvPr/>
        </p:nvSpPr>
        <p:spPr>
          <a:xfrm>
            <a:off x="6199632" y="3246120"/>
            <a:ext cx="594360" cy="594360"/>
          </a:xfrm>
          <a:prstGeom prst="ellipse">
            <a:avLst/>
          </a:prstGeom>
          <a:solidFill>
            <a:schemeClr val="accent5"/>
          </a:solidFill>
          <a:ln w="12700">
            <a:solidFill>
              <a:schemeClr val="accent5"/>
            </a:solidFill>
            <a:prstDash val="solid"/>
          </a:ln>
        </p:spPr>
      </p:sp>
      <p:sp>
        <p:nvSpPr>
          <p:cNvPr id="14" name="Text 12"/>
          <p:cNvSpPr txBox="1"/>
          <p:nvPr/>
        </p:nvSpPr>
        <p:spPr>
          <a:xfrm>
            <a:off x="6199632" y="324612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15" name="Text 13"/>
          <p:cNvSpPr txBox="1"/>
          <p:nvPr/>
        </p:nvSpPr>
        <p:spPr>
          <a:xfrm>
            <a:off x="6949440" y="3108960"/>
            <a:ext cx="1645920" cy="868680"/>
          </a:xfrm>
          <a:prstGeom prst="rect">
            <a:avLst/>
          </a:prstGeom>
          <a:noFill/>
          <a:ln/>
        </p:spPr>
        <p:txBody>
          <a:bodyPr wrap="square" lIns="0" tIns="0" rIns="0" bIns="0" rtlCol="0" anchor="ctr"/>
          <a:lstStyle/>
          <a:p>
            <a:pPr indent="0" marL="0">
              <a:buNone/>
            </a:pPr>
            <a:r>
              <a:rPr lang="en-US" sz="1800" b="1" dirty="0">
                <a:solidFill>
                  <a:schemeClr val="bg1"/>
                </a:solidFill>
              </a:rPr>
              <a:t>link to paste</a:t>
            </a:r>
            <a:endParaRPr lang="en-US" sz="1800" dirty="0"/>
          </a:p>
        </p:txBody>
      </p:sp>
      <p:sp>
        <p:nvSpPr>
          <p:cNvPr id="16" name="Text 14"/>
          <p:cNvSpPr txBox="1"/>
          <p:nvPr/>
        </p:nvSpPr>
        <p:spPr>
          <a:xfrm>
            <a:off x="548640" y="4434840"/>
            <a:ext cx="7315200" cy="274320"/>
          </a:xfrm>
          <a:prstGeom prst="rect">
            <a:avLst/>
          </a:prstGeom>
          <a:noFill/>
          <a:ln/>
        </p:spPr>
        <p:txBody>
          <a:bodyPr wrap="square" lIns="0" tIns="0" rIns="0" bIns="0" rtlCol="0" anchor="ctr"/>
          <a:lstStyle/>
          <a:p>
            <a:pPr indent="0" marL="0">
              <a:buNone/>
            </a:pPr>
            <a:r>
              <a:rPr lang="en-US" sz="1100" i="1" dirty="0">
                <a:solidFill>
                  <a:srgbClr val="C7D2FE"/>
                </a:solidFill>
              </a:rPr>
              <a:t>Independent, experimental tool  ·  Not an official DTA assessment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Checking compliance takes too long</a:t>
            </a:r>
            <a:endParaRPr lang="en-US" sz="3600" dirty="0"/>
          </a:p>
        </p:txBody>
      </p:sp>
      <p:sp>
        <p:nvSpPr>
          <p:cNvPr id="3" name="Audience column"/>
          <p:cNvSpPr/>
          <p:nvPr/>
        </p:nvSpPr>
        <p:spPr>
          <a:xfrm>
            <a:off x="457200" y="1188720"/>
            <a:ext cx="2596896" cy="3337560"/>
          </a:xfrm>
          <a:prstGeom prst="roundRect">
            <a:avLst>
              <a:gd name="adj" fmla="val 4930"/>
            </a:avLst>
          </a:prstGeom>
          <a:solidFill>
            <a:schemeClr val="bg2"/>
          </a:solidFill>
          <a:ln w="12700">
            <a:solidFill>
              <a:schemeClr val="bg2"/>
            </a:solidFill>
            <a:prstDash val="solid"/>
          </a:ln>
        </p:spPr>
      </p:sp>
      <p:sp>
        <p:nvSpPr>
          <p:cNvPr id="4" name="Audience circle"/>
          <p:cNvSpPr/>
          <p:nvPr/>
        </p:nvSpPr>
        <p:spPr>
          <a:xfrm>
            <a:off x="685800" y="1371600"/>
            <a:ext cx="640080" cy="640080"/>
          </a:xfrm>
          <a:prstGeom prst="ellipse">
            <a:avLst/>
          </a:prstGeom>
          <a:solidFill>
            <a:schemeClr val="accent2"/>
          </a:solidFill>
          <a:ln w="12700">
            <a:solidFill>
              <a:schemeClr val="accent2"/>
            </a:solidFill>
            <a:prstDash val="solid"/>
          </a:ln>
        </p:spPr>
      </p:sp>
      <p:pic>
        <p:nvPicPr>
          <p:cNvPr id="5" name="Audience icon" descr="preencoded.png">    </p:cNvPr>
          <p:cNvPicPr>
            <a:picLocks noChangeAspect="1"/>
          </p:cNvPicPr>
          <p:nvPr/>
        </p:nvPicPr>
        <p:blipFill>
          <a:blip r:embed="rId1"/>
          <a:stretch>
            <a:fillRect/>
          </a:stretch>
        </p:blipFill>
        <p:spPr>
          <a:xfrm>
            <a:off x="858622" y="1544422"/>
            <a:ext cx="294437" cy="294437"/>
          </a:xfrm>
          <a:prstGeom prst="rect">
            <a:avLst/>
          </a:prstGeom>
        </p:spPr>
      </p:pic>
      <p:sp>
        <p:nvSpPr>
          <p:cNvPr id="6" name="Text 3"/>
          <p:cNvSpPr txBox="1"/>
          <p:nvPr/>
        </p:nvSpPr>
        <p:spPr>
          <a:xfrm>
            <a:off x="1463040" y="1371600"/>
            <a:ext cx="1463040" cy="6400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Audience</a:t>
            </a:r>
            <a:endParaRPr lang="en-US" sz="2000" dirty="0"/>
          </a:p>
        </p:txBody>
      </p:sp>
      <p:sp>
        <p:nvSpPr>
          <p:cNvPr id="7" name="Audience dot 1"/>
          <p:cNvSpPr/>
          <p:nvPr/>
        </p:nvSpPr>
        <p:spPr>
          <a:xfrm>
            <a:off x="731520" y="2386584"/>
            <a:ext cx="109728" cy="109728"/>
          </a:xfrm>
          <a:prstGeom prst="ellipse">
            <a:avLst/>
          </a:prstGeom>
          <a:solidFill>
            <a:schemeClr val="accent2"/>
          </a:solidFill>
          <a:ln w="12700">
            <a:solidFill>
              <a:schemeClr val="accent2"/>
            </a:solidFill>
            <a:prstDash val="solid"/>
          </a:ln>
        </p:spPr>
      </p:sp>
      <p:sp>
        <p:nvSpPr>
          <p:cNvPr id="8" name="Text 5"/>
          <p:cNvSpPr txBox="1"/>
          <p:nvPr/>
        </p:nvSpPr>
        <p:spPr>
          <a:xfrm>
            <a:off x="960120" y="2240280"/>
            <a:ext cx="1965960" cy="411480"/>
          </a:xfrm>
          <a:prstGeom prst="rect">
            <a:avLst/>
          </a:prstGeom>
          <a:noFill/>
          <a:ln/>
        </p:spPr>
        <p:txBody>
          <a:bodyPr wrap="square" lIns="0" tIns="0" rIns="0" bIns="0" rtlCol="0" anchor="ctr"/>
          <a:lstStyle/>
          <a:p>
            <a:pPr indent="0" marL="0">
              <a:buNone/>
            </a:pPr>
            <a:r>
              <a:rPr lang="en-US" sz="1500" b="1" dirty="0">
                <a:solidFill>
                  <a:schemeClr val="tx2"/>
                </a:solidFill>
              </a:rPr>
              <a:t>Agency public sites</a:t>
            </a:r>
            <a:endParaRPr lang="en-US" sz="1500" dirty="0"/>
          </a:p>
        </p:txBody>
      </p:sp>
      <p:sp>
        <p:nvSpPr>
          <p:cNvPr id="9" name="Audience dot 2"/>
          <p:cNvSpPr/>
          <p:nvPr/>
        </p:nvSpPr>
        <p:spPr>
          <a:xfrm>
            <a:off x="731520" y="3099816"/>
            <a:ext cx="109728" cy="109728"/>
          </a:xfrm>
          <a:prstGeom prst="ellipse">
            <a:avLst/>
          </a:prstGeom>
          <a:solidFill>
            <a:schemeClr val="accent2"/>
          </a:solidFill>
          <a:ln w="12700">
            <a:solidFill>
              <a:schemeClr val="accent2"/>
            </a:solidFill>
            <a:prstDash val="solid"/>
          </a:ln>
        </p:spPr>
      </p:sp>
      <p:sp>
        <p:nvSpPr>
          <p:cNvPr id="10" name="Text 7"/>
          <p:cNvSpPr txBox="1"/>
          <p:nvPr/>
        </p:nvSpPr>
        <p:spPr>
          <a:xfrm>
            <a:off x="960120" y="2953512"/>
            <a:ext cx="1965960" cy="411480"/>
          </a:xfrm>
          <a:prstGeom prst="rect">
            <a:avLst/>
          </a:prstGeom>
          <a:noFill/>
          <a:ln/>
        </p:spPr>
        <p:txBody>
          <a:bodyPr wrap="square" lIns="0" tIns="0" rIns="0" bIns="0" rtlCol="0" anchor="ctr"/>
          <a:lstStyle/>
          <a:p>
            <a:pPr indent="0" marL="0">
              <a:buNone/>
            </a:pPr>
            <a:r>
              <a:rPr lang="en-US" sz="1500" b="1" dirty="0">
                <a:solidFill>
                  <a:schemeClr val="tx2"/>
                </a:solidFill>
              </a:rPr>
              <a:t>Live or prototype builds</a:t>
            </a:r>
            <a:endParaRPr lang="en-US" sz="1500" dirty="0"/>
          </a:p>
        </p:txBody>
      </p:sp>
      <p:sp>
        <p:nvSpPr>
          <p:cNvPr id="11" name="Pain point column"/>
          <p:cNvSpPr/>
          <p:nvPr/>
        </p:nvSpPr>
        <p:spPr>
          <a:xfrm>
            <a:off x="3273552" y="1188720"/>
            <a:ext cx="2596896" cy="3337560"/>
          </a:xfrm>
          <a:prstGeom prst="roundRect">
            <a:avLst>
              <a:gd name="adj" fmla="val 4930"/>
            </a:avLst>
          </a:prstGeom>
          <a:solidFill>
            <a:schemeClr val="bg2"/>
          </a:solidFill>
          <a:ln w="12700">
            <a:solidFill>
              <a:schemeClr val="bg2"/>
            </a:solidFill>
            <a:prstDash val="solid"/>
          </a:ln>
        </p:spPr>
      </p:sp>
      <p:sp>
        <p:nvSpPr>
          <p:cNvPr id="12" name="Pain point circle"/>
          <p:cNvSpPr/>
          <p:nvPr/>
        </p:nvSpPr>
        <p:spPr>
          <a:xfrm>
            <a:off x="3502152" y="1371600"/>
            <a:ext cx="640080" cy="640080"/>
          </a:xfrm>
          <a:prstGeom prst="ellipse">
            <a:avLst/>
          </a:prstGeom>
          <a:solidFill>
            <a:schemeClr val="accent1"/>
          </a:solidFill>
          <a:ln w="12700">
            <a:solidFill>
              <a:schemeClr val="accent1"/>
            </a:solidFill>
            <a:prstDash val="solid"/>
          </a:ln>
        </p:spPr>
      </p:sp>
      <p:pic>
        <p:nvPicPr>
          <p:cNvPr id="13" name="Pain point icon" descr="preencoded.png">    </p:cNvPr>
          <p:cNvPicPr>
            <a:picLocks noChangeAspect="1"/>
          </p:cNvPicPr>
          <p:nvPr/>
        </p:nvPicPr>
        <p:blipFill>
          <a:blip r:embed="rId2"/>
          <a:stretch>
            <a:fillRect/>
          </a:stretch>
        </p:blipFill>
        <p:spPr>
          <a:xfrm>
            <a:off x="3674974" y="1544422"/>
            <a:ext cx="294437" cy="294437"/>
          </a:xfrm>
          <a:prstGeom prst="rect">
            <a:avLst/>
          </a:prstGeom>
        </p:spPr>
      </p:pic>
      <p:sp>
        <p:nvSpPr>
          <p:cNvPr id="14" name="Text 10"/>
          <p:cNvSpPr txBox="1"/>
          <p:nvPr/>
        </p:nvSpPr>
        <p:spPr>
          <a:xfrm>
            <a:off x="4279392" y="1371600"/>
            <a:ext cx="1463040" cy="6400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Pain point</a:t>
            </a:r>
            <a:endParaRPr lang="en-US" sz="2000" dirty="0"/>
          </a:p>
        </p:txBody>
      </p:sp>
      <p:sp>
        <p:nvSpPr>
          <p:cNvPr id="15" name="Pain point dot 1"/>
          <p:cNvSpPr/>
          <p:nvPr/>
        </p:nvSpPr>
        <p:spPr>
          <a:xfrm>
            <a:off x="3547872" y="2386584"/>
            <a:ext cx="109728" cy="109728"/>
          </a:xfrm>
          <a:prstGeom prst="ellipse">
            <a:avLst/>
          </a:prstGeom>
          <a:solidFill>
            <a:schemeClr val="accent1"/>
          </a:solidFill>
          <a:ln w="12700">
            <a:solidFill>
              <a:schemeClr val="accent1"/>
            </a:solidFill>
            <a:prstDash val="solid"/>
          </a:ln>
        </p:spPr>
      </p:sp>
      <p:sp>
        <p:nvSpPr>
          <p:cNvPr id="16" name="Text 12"/>
          <p:cNvSpPr txBox="1"/>
          <p:nvPr/>
        </p:nvSpPr>
        <p:spPr>
          <a:xfrm>
            <a:off x="3776472" y="2240280"/>
            <a:ext cx="1965960" cy="411480"/>
          </a:xfrm>
          <a:prstGeom prst="rect">
            <a:avLst/>
          </a:prstGeom>
          <a:noFill/>
          <a:ln/>
        </p:spPr>
        <p:txBody>
          <a:bodyPr wrap="square" lIns="0" tIns="0" rIns="0" bIns="0" rtlCol="0" anchor="ctr"/>
          <a:lstStyle/>
          <a:p>
            <a:pPr indent="0" marL="0">
              <a:buNone/>
            </a:pPr>
            <a:r>
              <a:rPr lang="en-US" sz="1500" b="1" dirty="0">
                <a:solidFill>
                  <a:schemeClr val="tx2"/>
                </a:solidFill>
              </a:rPr>
              <a:t>46 checks to run</a:t>
            </a:r>
            <a:endParaRPr lang="en-US" sz="1500" dirty="0"/>
          </a:p>
        </p:txBody>
      </p:sp>
      <p:sp>
        <p:nvSpPr>
          <p:cNvPr id="17" name="Pain point dot 2"/>
          <p:cNvSpPr/>
          <p:nvPr/>
        </p:nvSpPr>
        <p:spPr>
          <a:xfrm>
            <a:off x="3547872" y="3099816"/>
            <a:ext cx="109728" cy="109728"/>
          </a:xfrm>
          <a:prstGeom prst="ellipse">
            <a:avLst/>
          </a:prstGeom>
          <a:solidFill>
            <a:schemeClr val="accent1"/>
          </a:solidFill>
          <a:ln w="12700">
            <a:solidFill>
              <a:schemeClr val="accent1"/>
            </a:solidFill>
            <a:prstDash val="solid"/>
          </a:ln>
        </p:spPr>
      </p:sp>
      <p:sp>
        <p:nvSpPr>
          <p:cNvPr id="18" name="Text 14"/>
          <p:cNvSpPr txBox="1"/>
          <p:nvPr/>
        </p:nvSpPr>
        <p:spPr>
          <a:xfrm>
            <a:off x="3776472" y="2953512"/>
            <a:ext cx="1965960" cy="411480"/>
          </a:xfrm>
          <a:prstGeom prst="rect">
            <a:avLst/>
          </a:prstGeom>
          <a:noFill/>
          <a:ln/>
        </p:spPr>
        <p:txBody>
          <a:bodyPr wrap="square" lIns="0" tIns="0" rIns="0" bIns="0" rtlCol="0" anchor="ctr"/>
          <a:lstStyle/>
          <a:p>
            <a:pPr indent="0" marL="0">
              <a:buNone/>
            </a:pPr>
            <a:r>
              <a:rPr lang="en-US" sz="1500" b="1" dirty="0">
                <a:solidFill>
                  <a:schemeClr val="tx2"/>
                </a:solidFill>
              </a:rPr>
              <a:t>Back and forth with DTA</a:t>
            </a:r>
            <a:endParaRPr lang="en-US" sz="1500" dirty="0"/>
          </a:p>
        </p:txBody>
      </p:sp>
      <p:sp>
        <p:nvSpPr>
          <p:cNvPr id="19" name="Pain point dot 3"/>
          <p:cNvSpPr/>
          <p:nvPr/>
        </p:nvSpPr>
        <p:spPr>
          <a:xfrm>
            <a:off x="3547872" y="3813048"/>
            <a:ext cx="109728" cy="109728"/>
          </a:xfrm>
          <a:prstGeom prst="ellipse">
            <a:avLst/>
          </a:prstGeom>
          <a:solidFill>
            <a:schemeClr val="accent1"/>
          </a:solidFill>
          <a:ln w="12700">
            <a:solidFill>
              <a:schemeClr val="accent1"/>
            </a:solidFill>
            <a:prstDash val="solid"/>
          </a:ln>
        </p:spPr>
      </p:sp>
      <p:sp>
        <p:nvSpPr>
          <p:cNvPr id="20" name="Text 16"/>
          <p:cNvSpPr txBox="1"/>
          <p:nvPr/>
        </p:nvSpPr>
        <p:spPr>
          <a:xfrm>
            <a:off x="3776472" y="3666744"/>
            <a:ext cx="1965960" cy="411480"/>
          </a:xfrm>
          <a:prstGeom prst="rect">
            <a:avLst/>
          </a:prstGeom>
          <a:noFill/>
          <a:ln/>
        </p:spPr>
        <p:txBody>
          <a:bodyPr wrap="square" lIns="0" tIns="0" rIns="0" bIns="0" rtlCol="0" anchor="ctr"/>
          <a:lstStyle/>
          <a:p>
            <a:pPr indent="0" marL="0">
              <a:buNone/>
            </a:pPr>
            <a:r>
              <a:rPr lang="en-US" sz="1500" b="1" dirty="0">
                <a:solidFill>
                  <a:schemeClr val="tx2"/>
                </a:solidFill>
              </a:rPr>
              <a:t>Slow for prototypes too</a:t>
            </a:r>
            <a:endParaRPr lang="en-US" sz="1500" dirty="0"/>
          </a:p>
        </p:txBody>
      </p:sp>
      <p:sp>
        <p:nvSpPr>
          <p:cNvPr id="21" name="Impact column"/>
          <p:cNvSpPr/>
          <p:nvPr/>
        </p:nvSpPr>
        <p:spPr>
          <a:xfrm>
            <a:off x="6089904" y="1188720"/>
            <a:ext cx="2596896" cy="3337560"/>
          </a:xfrm>
          <a:prstGeom prst="roundRect">
            <a:avLst>
              <a:gd name="adj" fmla="val 4930"/>
            </a:avLst>
          </a:prstGeom>
          <a:solidFill>
            <a:schemeClr val="bg2"/>
          </a:solidFill>
          <a:ln w="12700">
            <a:solidFill>
              <a:schemeClr val="bg2"/>
            </a:solidFill>
            <a:prstDash val="solid"/>
          </a:ln>
        </p:spPr>
      </p:sp>
      <p:sp>
        <p:nvSpPr>
          <p:cNvPr id="22" name="Impact circle"/>
          <p:cNvSpPr/>
          <p:nvPr/>
        </p:nvSpPr>
        <p:spPr>
          <a:xfrm>
            <a:off x="6318504" y="1371600"/>
            <a:ext cx="640080" cy="640080"/>
          </a:xfrm>
          <a:prstGeom prst="ellipse">
            <a:avLst/>
          </a:prstGeom>
          <a:solidFill>
            <a:schemeClr val="accent5"/>
          </a:solidFill>
          <a:ln w="12700">
            <a:solidFill>
              <a:schemeClr val="accent5"/>
            </a:solidFill>
            <a:prstDash val="solid"/>
          </a:ln>
        </p:spPr>
      </p:sp>
      <p:pic>
        <p:nvPicPr>
          <p:cNvPr id="23" name="Impact icon" descr="preencoded.png">    </p:cNvPr>
          <p:cNvPicPr>
            <a:picLocks noChangeAspect="1"/>
          </p:cNvPicPr>
          <p:nvPr/>
        </p:nvPicPr>
        <p:blipFill>
          <a:blip r:embed="rId3"/>
          <a:stretch>
            <a:fillRect/>
          </a:stretch>
        </p:blipFill>
        <p:spPr>
          <a:xfrm>
            <a:off x="6491326" y="1544422"/>
            <a:ext cx="294437" cy="294437"/>
          </a:xfrm>
          <a:prstGeom prst="rect">
            <a:avLst/>
          </a:prstGeom>
        </p:spPr>
      </p:pic>
      <p:sp>
        <p:nvSpPr>
          <p:cNvPr id="24" name="Text 19"/>
          <p:cNvSpPr txBox="1"/>
          <p:nvPr/>
        </p:nvSpPr>
        <p:spPr>
          <a:xfrm>
            <a:off x="7095744" y="1371600"/>
            <a:ext cx="1463040" cy="6400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Impact</a:t>
            </a:r>
            <a:endParaRPr lang="en-US" sz="2000" dirty="0"/>
          </a:p>
        </p:txBody>
      </p:sp>
      <p:sp>
        <p:nvSpPr>
          <p:cNvPr id="25" name="Impact dot 1"/>
          <p:cNvSpPr/>
          <p:nvPr/>
        </p:nvSpPr>
        <p:spPr>
          <a:xfrm>
            <a:off x="6364224" y="2386584"/>
            <a:ext cx="109728" cy="109728"/>
          </a:xfrm>
          <a:prstGeom prst="ellipse">
            <a:avLst/>
          </a:prstGeom>
          <a:solidFill>
            <a:schemeClr val="accent5"/>
          </a:solidFill>
          <a:ln w="12700">
            <a:solidFill>
              <a:schemeClr val="accent5"/>
            </a:solidFill>
            <a:prstDash val="solid"/>
          </a:ln>
        </p:spPr>
      </p:sp>
      <p:sp>
        <p:nvSpPr>
          <p:cNvPr id="26" name="Text 21"/>
          <p:cNvSpPr txBox="1"/>
          <p:nvPr/>
        </p:nvSpPr>
        <p:spPr>
          <a:xfrm>
            <a:off x="6592824" y="2240280"/>
            <a:ext cx="1965960" cy="411480"/>
          </a:xfrm>
          <a:prstGeom prst="rect">
            <a:avLst/>
          </a:prstGeom>
          <a:noFill/>
          <a:ln/>
        </p:spPr>
        <p:txBody>
          <a:bodyPr wrap="square" lIns="0" tIns="0" rIns="0" bIns="0" rtlCol="0" anchor="ctr"/>
          <a:lstStyle/>
          <a:p>
            <a:pPr indent="0" marL="0">
              <a:buNone/>
            </a:pPr>
            <a:r>
              <a:rPr lang="en-US" sz="1500" b="1" dirty="0">
                <a:solidFill>
                  <a:schemeClr val="tx2"/>
                </a:solidFill>
              </a:rPr>
              <a:t>Checks happen late</a:t>
            </a:r>
            <a:endParaRPr lang="en-US" sz="1500" dirty="0"/>
          </a:p>
        </p:txBody>
      </p:sp>
      <p:sp>
        <p:nvSpPr>
          <p:cNvPr id="27" name="Impact dot 2"/>
          <p:cNvSpPr/>
          <p:nvPr/>
        </p:nvSpPr>
        <p:spPr>
          <a:xfrm>
            <a:off x="6364224" y="3099816"/>
            <a:ext cx="109728" cy="109728"/>
          </a:xfrm>
          <a:prstGeom prst="ellipse">
            <a:avLst/>
          </a:prstGeom>
          <a:solidFill>
            <a:schemeClr val="accent5"/>
          </a:solidFill>
          <a:ln w="12700">
            <a:solidFill>
              <a:schemeClr val="accent5"/>
            </a:solidFill>
            <a:prstDash val="solid"/>
          </a:ln>
        </p:spPr>
      </p:sp>
      <p:sp>
        <p:nvSpPr>
          <p:cNvPr id="28" name="Text 23"/>
          <p:cNvSpPr txBox="1"/>
          <p:nvPr/>
        </p:nvSpPr>
        <p:spPr>
          <a:xfrm>
            <a:off x="6592824" y="2953512"/>
            <a:ext cx="1965960" cy="411480"/>
          </a:xfrm>
          <a:prstGeom prst="rect">
            <a:avLst/>
          </a:prstGeom>
          <a:noFill/>
          <a:ln/>
        </p:spPr>
        <p:txBody>
          <a:bodyPr wrap="square" lIns="0" tIns="0" rIns="0" bIns="0" rtlCol="0" anchor="ctr"/>
          <a:lstStyle/>
          <a:p>
            <a:pPr indent="0" marL="0">
              <a:buNone/>
            </a:pPr>
            <a:r>
              <a:rPr lang="en-US" sz="1500" b="1" dirty="0">
                <a:solidFill>
                  <a:schemeClr val="tx2"/>
                </a:solidFill>
              </a:rPr>
              <a:t>Found via complaints</a:t>
            </a:r>
            <a:endParaRPr lang="en-US" sz="1500" dirty="0"/>
          </a:p>
        </p:txBody>
      </p:sp>
      <p:sp>
        <p:nvSpPr>
          <p:cNvPr id="29" name="Impact dot 3"/>
          <p:cNvSpPr/>
          <p:nvPr/>
        </p:nvSpPr>
        <p:spPr>
          <a:xfrm>
            <a:off x="6364224" y="3813048"/>
            <a:ext cx="109728" cy="109728"/>
          </a:xfrm>
          <a:prstGeom prst="ellipse">
            <a:avLst/>
          </a:prstGeom>
          <a:solidFill>
            <a:schemeClr val="accent5"/>
          </a:solidFill>
          <a:ln w="12700">
            <a:solidFill>
              <a:schemeClr val="accent5"/>
            </a:solidFill>
            <a:prstDash val="solid"/>
          </a:ln>
        </p:spPr>
      </p:sp>
      <p:sp>
        <p:nvSpPr>
          <p:cNvPr id="30" name="Text 25"/>
          <p:cNvSpPr txBox="1"/>
          <p:nvPr/>
        </p:nvSpPr>
        <p:spPr>
          <a:xfrm>
            <a:off x="6592824" y="3666744"/>
            <a:ext cx="1965960" cy="411480"/>
          </a:xfrm>
          <a:prstGeom prst="rect">
            <a:avLst/>
          </a:prstGeom>
          <a:noFill/>
          <a:ln/>
        </p:spPr>
        <p:txBody>
          <a:bodyPr wrap="square" lIns="0" tIns="0" rIns="0" bIns="0" rtlCol="0" anchor="ctr"/>
          <a:lstStyle/>
          <a:p>
            <a:pPr indent="0" marL="0">
              <a:buNone/>
            </a:pPr>
            <a:r>
              <a:rPr lang="en-US" sz="1500" b="1" dirty="0">
                <a:solidFill>
                  <a:schemeClr val="tx2"/>
                </a:solidFill>
              </a:rPr>
              <a:t>People left behind</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46 checks in 30 seconds</a:t>
            </a:r>
            <a:endParaRPr lang="en-US" sz="3600" dirty="0"/>
          </a:p>
        </p:txBody>
      </p:sp>
      <p:sp>
        <p:nvSpPr>
          <p:cNvPr id="3" name="Step 1"/>
          <p:cNvSpPr/>
          <p:nvPr/>
        </p:nvSpPr>
        <p:spPr>
          <a:xfrm>
            <a:off x="457200" y="1280160"/>
            <a:ext cx="1828800" cy="2651760"/>
          </a:xfrm>
          <a:prstGeom prst="roundRect">
            <a:avLst>
              <a:gd name="adj" fmla="val 7000"/>
            </a:avLst>
          </a:prstGeom>
          <a:solidFill>
            <a:schemeClr val="bg2"/>
          </a:solidFill>
          <a:ln w="12700">
            <a:solidFill>
              <a:schemeClr val="bg2"/>
            </a:solidFill>
            <a:prstDash val="solid"/>
          </a:ln>
        </p:spPr>
      </p:sp>
      <p:sp>
        <p:nvSpPr>
          <p:cNvPr id="4" name="Step 1 circle"/>
          <p:cNvSpPr/>
          <p:nvPr/>
        </p:nvSpPr>
        <p:spPr>
          <a:xfrm>
            <a:off x="914400" y="1554480"/>
            <a:ext cx="914400" cy="914400"/>
          </a:xfrm>
          <a:prstGeom prst="ellipse">
            <a:avLst/>
          </a:prstGeom>
          <a:solidFill>
            <a:schemeClr val="accent1"/>
          </a:solidFill>
          <a:ln w="12700">
            <a:solidFill>
              <a:schemeClr val="accent1"/>
            </a:solidFill>
            <a:prstDash val="solid"/>
          </a:ln>
        </p:spPr>
      </p:sp>
      <p:pic>
        <p:nvPicPr>
          <p:cNvPr id="5" name="Step 1 icon" descr="preencoded.png">    </p:cNvPr>
          <p:cNvPicPr>
            <a:picLocks noChangeAspect="1"/>
          </p:cNvPicPr>
          <p:nvPr/>
        </p:nvPicPr>
        <p:blipFill>
          <a:blip r:embed="rId1"/>
          <a:stretch>
            <a:fillRect/>
          </a:stretch>
        </p:blipFill>
        <p:spPr>
          <a:xfrm>
            <a:off x="1161288" y="1801368"/>
            <a:ext cx="420624" cy="420624"/>
          </a:xfrm>
          <a:prstGeom prst="rect">
            <a:avLst/>
          </a:prstGeom>
        </p:spPr>
      </p:pic>
      <p:sp>
        <p:nvSpPr>
          <p:cNvPr id="6" name="Text 3"/>
          <p:cNvSpPr txBox="1"/>
          <p:nvPr/>
        </p:nvSpPr>
        <p:spPr>
          <a:xfrm>
            <a:off x="594360" y="1371600"/>
            <a:ext cx="365760" cy="365760"/>
          </a:xfrm>
          <a:prstGeom prst="rect">
            <a:avLst/>
          </a:prstGeom>
          <a:noFill/>
          <a:ln/>
        </p:spPr>
        <p:txBody>
          <a:bodyPr wrap="square" lIns="0" tIns="0" rIns="0" bIns="0" rtlCol="0" anchor="ctr"/>
          <a:lstStyle/>
          <a:p>
            <a:pPr indent="0" marL="0">
              <a:buNone/>
            </a:pPr>
            <a:r>
              <a:rPr lang="en-US" sz="1600" b="1" dirty="0">
                <a:solidFill>
                  <a:schemeClr val="accent6"/>
                </a:solidFill>
              </a:rPr>
              <a:t>1</a:t>
            </a:r>
            <a:endParaRPr lang="en-US" sz="1600" dirty="0"/>
          </a:p>
        </p:txBody>
      </p:sp>
      <p:sp>
        <p:nvSpPr>
          <p:cNvPr id="7" name="Text 4"/>
          <p:cNvSpPr txBox="1"/>
          <p:nvPr/>
        </p:nvSpPr>
        <p:spPr>
          <a:xfrm>
            <a:off x="548640" y="2697480"/>
            <a:ext cx="1645920" cy="411480"/>
          </a:xfrm>
          <a:prstGeom prst="rect">
            <a:avLst/>
          </a:prstGeom>
          <a:noFill/>
          <a:ln/>
        </p:spPr>
        <p:txBody>
          <a:bodyPr wrap="square" lIns="0" tIns="0" rIns="0" bIns="0" rtlCol="0" anchor="ctr"/>
          <a:lstStyle/>
          <a:p>
            <a:pPr algn="ctr" indent="0" marL="0">
              <a:buNone/>
            </a:pPr>
            <a:r>
              <a:rPr lang="en-US" sz="1700" b="1" dirty="0">
                <a:solidFill>
                  <a:schemeClr val="tx2"/>
                </a:solidFill>
              </a:rPr>
              <a:t>Paste a link</a:t>
            </a:r>
            <a:endParaRPr lang="en-US" sz="1700" dirty="0"/>
          </a:p>
        </p:txBody>
      </p:sp>
      <p:sp>
        <p:nvSpPr>
          <p:cNvPr id="8" name="Text 5"/>
          <p:cNvSpPr txBox="1"/>
          <p:nvPr/>
        </p:nvSpPr>
        <p:spPr>
          <a:xfrm>
            <a:off x="548640" y="3154680"/>
            <a:ext cx="1645920" cy="365760"/>
          </a:xfrm>
          <a:prstGeom prst="rect">
            <a:avLst/>
          </a:prstGeom>
          <a:noFill/>
          <a:ln/>
        </p:spPr>
        <p:txBody>
          <a:bodyPr wrap="square" lIns="0" tIns="0" rIns="0" bIns="0" rtlCol="0" anchor="ctr"/>
          <a:lstStyle/>
          <a:p>
            <a:pPr algn="ctr" indent="0" marL="0">
              <a:buNone/>
            </a:pPr>
            <a:r>
              <a:rPr lang="en-US" sz="1400" dirty="0">
                <a:solidFill>
                  <a:schemeClr val="accent6"/>
                </a:solidFill>
              </a:rPr>
              <a:t>Any gov.au site</a:t>
            </a:r>
            <a:endParaRPr lang="en-US" sz="1400" dirty="0"/>
          </a:p>
        </p:txBody>
      </p:sp>
      <p:pic>
        <p:nvPicPr>
          <p:cNvPr id="9" name="Arrow 1" descr="preencoded.png">    </p:cNvPr>
          <p:cNvPicPr>
            <a:picLocks noChangeAspect="1"/>
          </p:cNvPicPr>
          <p:nvPr/>
        </p:nvPicPr>
        <p:blipFill>
          <a:blip r:embed="rId2"/>
          <a:stretch>
            <a:fillRect/>
          </a:stretch>
        </p:blipFill>
        <p:spPr>
          <a:xfrm>
            <a:off x="2331720" y="1901952"/>
            <a:ext cx="210312" cy="210312"/>
          </a:xfrm>
          <a:prstGeom prst="rect">
            <a:avLst/>
          </a:prstGeom>
        </p:spPr>
      </p:pic>
      <p:sp>
        <p:nvSpPr>
          <p:cNvPr id="10" name="Step 2"/>
          <p:cNvSpPr/>
          <p:nvPr/>
        </p:nvSpPr>
        <p:spPr>
          <a:xfrm>
            <a:off x="2587752" y="1280160"/>
            <a:ext cx="1828800" cy="2651760"/>
          </a:xfrm>
          <a:prstGeom prst="roundRect">
            <a:avLst>
              <a:gd name="adj" fmla="val 7000"/>
            </a:avLst>
          </a:prstGeom>
          <a:solidFill>
            <a:schemeClr val="bg2"/>
          </a:solidFill>
          <a:ln w="12700">
            <a:solidFill>
              <a:schemeClr val="bg2"/>
            </a:solidFill>
            <a:prstDash val="solid"/>
          </a:ln>
        </p:spPr>
      </p:sp>
      <p:sp>
        <p:nvSpPr>
          <p:cNvPr id="11" name="Step 2 circle"/>
          <p:cNvSpPr/>
          <p:nvPr/>
        </p:nvSpPr>
        <p:spPr>
          <a:xfrm>
            <a:off x="3044952" y="1554480"/>
            <a:ext cx="914400" cy="914400"/>
          </a:xfrm>
          <a:prstGeom prst="ellipse">
            <a:avLst/>
          </a:prstGeom>
          <a:solidFill>
            <a:schemeClr val="accent2"/>
          </a:solidFill>
          <a:ln w="12700">
            <a:solidFill>
              <a:schemeClr val="accent2"/>
            </a:solidFill>
            <a:prstDash val="solid"/>
          </a:ln>
        </p:spPr>
      </p:sp>
      <p:pic>
        <p:nvPicPr>
          <p:cNvPr id="12" name="Step 2 icon" descr="preencoded.png">    </p:cNvPr>
          <p:cNvPicPr>
            <a:picLocks noChangeAspect="1"/>
          </p:cNvPicPr>
          <p:nvPr/>
        </p:nvPicPr>
        <p:blipFill>
          <a:blip r:embed="rId3"/>
          <a:stretch>
            <a:fillRect/>
          </a:stretch>
        </p:blipFill>
        <p:spPr>
          <a:xfrm>
            <a:off x="3291840" y="1801368"/>
            <a:ext cx="420624" cy="420624"/>
          </a:xfrm>
          <a:prstGeom prst="rect">
            <a:avLst/>
          </a:prstGeom>
        </p:spPr>
      </p:pic>
      <p:sp>
        <p:nvSpPr>
          <p:cNvPr id="13" name="Text 8"/>
          <p:cNvSpPr txBox="1"/>
          <p:nvPr/>
        </p:nvSpPr>
        <p:spPr>
          <a:xfrm>
            <a:off x="2724912" y="1371600"/>
            <a:ext cx="365760" cy="365760"/>
          </a:xfrm>
          <a:prstGeom prst="rect">
            <a:avLst/>
          </a:prstGeom>
          <a:noFill/>
          <a:ln/>
        </p:spPr>
        <p:txBody>
          <a:bodyPr wrap="square" lIns="0" tIns="0" rIns="0" bIns="0" rtlCol="0" anchor="ctr"/>
          <a:lstStyle/>
          <a:p>
            <a:pPr indent="0" marL="0">
              <a:buNone/>
            </a:pPr>
            <a:r>
              <a:rPr lang="en-US" sz="1600" b="1" dirty="0">
                <a:solidFill>
                  <a:schemeClr val="accent6"/>
                </a:solidFill>
              </a:rPr>
              <a:t>2</a:t>
            </a:r>
            <a:endParaRPr lang="en-US" sz="1600" dirty="0"/>
          </a:p>
        </p:txBody>
      </p:sp>
      <p:sp>
        <p:nvSpPr>
          <p:cNvPr id="14" name="Text 9"/>
          <p:cNvSpPr txBox="1"/>
          <p:nvPr/>
        </p:nvSpPr>
        <p:spPr>
          <a:xfrm>
            <a:off x="2679192" y="2697480"/>
            <a:ext cx="1645920" cy="411480"/>
          </a:xfrm>
          <a:prstGeom prst="rect">
            <a:avLst/>
          </a:prstGeom>
          <a:noFill/>
          <a:ln/>
        </p:spPr>
        <p:txBody>
          <a:bodyPr wrap="square" lIns="0" tIns="0" rIns="0" bIns="0" rtlCol="0" anchor="ctr"/>
          <a:lstStyle/>
          <a:p>
            <a:pPr algn="ctr" indent="0" marL="0">
              <a:buNone/>
            </a:pPr>
            <a:r>
              <a:rPr lang="en-US" sz="1700" b="1" dirty="0">
                <a:solidFill>
                  <a:schemeClr val="tx2"/>
                </a:solidFill>
              </a:rPr>
              <a:t>It looks around</a:t>
            </a:r>
            <a:endParaRPr lang="en-US" sz="1700" dirty="0"/>
          </a:p>
        </p:txBody>
      </p:sp>
      <p:sp>
        <p:nvSpPr>
          <p:cNvPr id="15" name="Text 10"/>
          <p:cNvSpPr txBox="1"/>
          <p:nvPr/>
        </p:nvSpPr>
        <p:spPr>
          <a:xfrm>
            <a:off x="2679192" y="3154680"/>
            <a:ext cx="1645920" cy="365760"/>
          </a:xfrm>
          <a:prstGeom prst="rect">
            <a:avLst/>
          </a:prstGeom>
          <a:noFill/>
          <a:ln/>
        </p:spPr>
        <p:txBody>
          <a:bodyPr wrap="square" lIns="0" tIns="0" rIns="0" bIns="0" rtlCol="0" anchor="ctr"/>
          <a:lstStyle/>
          <a:p>
            <a:pPr algn="ctr" indent="0" marL="0">
              <a:buNone/>
            </a:pPr>
            <a:r>
              <a:rPr lang="en-US" sz="1400" dirty="0">
                <a:solidFill>
                  <a:schemeClr val="accent6"/>
                </a:solidFill>
              </a:rPr>
              <a:t>Like a visitor</a:t>
            </a:r>
            <a:endParaRPr lang="en-US" sz="1400" dirty="0"/>
          </a:p>
        </p:txBody>
      </p:sp>
      <p:pic>
        <p:nvPicPr>
          <p:cNvPr id="16" name="Arrow 2" descr="preencoded.png">    </p:cNvPr>
          <p:cNvPicPr>
            <a:picLocks noChangeAspect="1"/>
          </p:cNvPicPr>
          <p:nvPr/>
        </p:nvPicPr>
        <p:blipFill>
          <a:blip r:embed="rId4"/>
          <a:stretch>
            <a:fillRect/>
          </a:stretch>
        </p:blipFill>
        <p:spPr>
          <a:xfrm>
            <a:off x="4462272" y="1901952"/>
            <a:ext cx="210312" cy="210312"/>
          </a:xfrm>
          <a:prstGeom prst="rect">
            <a:avLst/>
          </a:prstGeom>
        </p:spPr>
      </p:pic>
      <p:sp>
        <p:nvSpPr>
          <p:cNvPr id="17" name="Step 3"/>
          <p:cNvSpPr/>
          <p:nvPr/>
        </p:nvSpPr>
        <p:spPr>
          <a:xfrm>
            <a:off x="4718304" y="1280160"/>
            <a:ext cx="1828800" cy="2651760"/>
          </a:xfrm>
          <a:prstGeom prst="roundRect">
            <a:avLst>
              <a:gd name="adj" fmla="val 7000"/>
            </a:avLst>
          </a:prstGeom>
          <a:solidFill>
            <a:schemeClr val="bg2"/>
          </a:solidFill>
          <a:ln w="12700">
            <a:solidFill>
              <a:schemeClr val="bg2"/>
            </a:solidFill>
            <a:prstDash val="solid"/>
          </a:ln>
        </p:spPr>
      </p:sp>
      <p:sp>
        <p:nvSpPr>
          <p:cNvPr id="18" name="Step 3 circle"/>
          <p:cNvSpPr/>
          <p:nvPr/>
        </p:nvSpPr>
        <p:spPr>
          <a:xfrm>
            <a:off x="5175504" y="1554480"/>
            <a:ext cx="914400" cy="914400"/>
          </a:xfrm>
          <a:prstGeom prst="ellipse">
            <a:avLst/>
          </a:prstGeom>
          <a:solidFill>
            <a:schemeClr val="accent5"/>
          </a:solidFill>
          <a:ln w="12700">
            <a:solidFill>
              <a:schemeClr val="accent5"/>
            </a:solidFill>
            <a:prstDash val="solid"/>
          </a:ln>
        </p:spPr>
      </p:sp>
      <p:pic>
        <p:nvPicPr>
          <p:cNvPr id="19" name="Step 3 icon" descr="preencoded.png">    </p:cNvPr>
          <p:cNvPicPr>
            <a:picLocks noChangeAspect="1"/>
          </p:cNvPicPr>
          <p:nvPr/>
        </p:nvPicPr>
        <p:blipFill>
          <a:blip r:embed="rId5"/>
          <a:stretch>
            <a:fillRect/>
          </a:stretch>
        </p:blipFill>
        <p:spPr>
          <a:xfrm>
            <a:off x="5422392" y="1801368"/>
            <a:ext cx="420624" cy="420624"/>
          </a:xfrm>
          <a:prstGeom prst="rect">
            <a:avLst/>
          </a:prstGeom>
        </p:spPr>
      </p:pic>
      <p:sp>
        <p:nvSpPr>
          <p:cNvPr id="20" name="Text 13"/>
          <p:cNvSpPr txBox="1"/>
          <p:nvPr/>
        </p:nvSpPr>
        <p:spPr>
          <a:xfrm>
            <a:off x="4855464" y="1371600"/>
            <a:ext cx="365760" cy="365760"/>
          </a:xfrm>
          <a:prstGeom prst="rect">
            <a:avLst/>
          </a:prstGeom>
          <a:noFill/>
          <a:ln/>
        </p:spPr>
        <p:txBody>
          <a:bodyPr wrap="square" lIns="0" tIns="0" rIns="0" bIns="0" rtlCol="0" anchor="ctr"/>
          <a:lstStyle/>
          <a:p>
            <a:pPr indent="0" marL="0">
              <a:buNone/>
            </a:pPr>
            <a:r>
              <a:rPr lang="en-US" sz="1600" b="1" dirty="0">
                <a:solidFill>
                  <a:schemeClr val="accent6"/>
                </a:solidFill>
              </a:rPr>
              <a:t>3</a:t>
            </a:r>
            <a:endParaRPr lang="en-US" sz="1600" dirty="0"/>
          </a:p>
        </p:txBody>
      </p:sp>
      <p:sp>
        <p:nvSpPr>
          <p:cNvPr id="21" name="Text 14"/>
          <p:cNvSpPr txBox="1"/>
          <p:nvPr/>
        </p:nvSpPr>
        <p:spPr>
          <a:xfrm>
            <a:off x="4809744" y="2697480"/>
            <a:ext cx="1645920" cy="411480"/>
          </a:xfrm>
          <a:prstGeom prst="rect">
            <a:avLst/>
          </a:prstGeom>
          <a:noFill/>
          <a:ln/>
        </p:spPr>
        <p:txBody>
          <a:bodyPr wrap="square" lIns="0" tIns="0" rIns="0" bIns="0" rtlCol="0" anchor="ctr"/>
          <a:lstStyle/>
          <a:p>
            <a:pPr algn="ctr" indent="0" marL="0">
              <a:buNone/>
            </a:pPr>
            <a:r>
              <a:rPr lang="en-US" sz="1700" b="1" dirty="0">
                <a:solidFill>
                  <a:schemeClr val="tx2"/>
                </a:solidFill>
              </a:rPr>
              <a:t>Read the report</a:t>
            </a:r>
            <a:endParaRPr lang="en-US" sz="1700" dirty="0"/>
          </a:p>
        </p:txBody>
      </p:sp>
      <p:sp>
        <p:nvSpPr>
          <p:cNvPr id="22" name="Text 15"/>
          <p:cNvSpPr txBox="1"/>
          <p:nvPr/>
        </p:nvSpPr>
        <p:spPr>
          <a:xfrm>
            <a:off x="4809744" y="3154680"/>
            <a:ext cx="1645920" cy="365760"/>
          </a:xfrm>
          <a:prstGeom prst="rect">
            <a:avLst/>
          </a:prstGeom>
          <a:noFill/>
          <a:ln/>
        </p:spPr>
        <p:txBody>
          <a:bodyPr wrap="square" lIns="0" tIns="0" rIns="0" bIns="0" rtlCol="0" anchor="ctr"/>
          <a:lstStyle/>
          <a:p>
            <a:pPr algn="ctr" indent="0" marL="0">
              <a:buNone/>
            </a:pPr>
            <a:r>
              <a:rPr lang="en-US" sz="1400" dirty="0">
                <a:solidFill>
                  <a:schemeClr val="accent6"/>
                </a:solidFill>
              </a:rPr>
              <a:t>Plain English</a:t>
            </a:r>
            <a:endParaRPr lang="en-US" sz="1400" dirty="0"/>
          </a:p>
        </p:txBody>
      </p:sp>
      <p:pic>
        <p:nvPicPr>
          <p:cNvPr id="23" name="Arrow 3" descr="preencoded.png">    </p:cNvPr>
          <p:cNvPicPr>
            <a:picLocks noChangeAspect="1"/>
          </p:cNvPicPr>
          <p:nvPr/>
        </p:nvPicPr>
        <p:blipFill>
          <a:blip r:embed="rId6"/>
          <a:stretch>
            <a:fillRect/>
          </a:stretch>
        </p:blipFill>
        <p:spPr>
          <a:xfrm>
            <a:off x="6592824" y="1901952"/>
            <a:ext cx="210312" cy="210312"/>
          </a:xfrm>
          <a:prstGeom prst="rect">
            <a:avLst/>
          </a:prstGeom>
        </p:spPr>
      </p:pic>
      <p:sp>
        <p:nvSpPr>
          <p:cNvPr id="24" name="Step 4"/>
          <p:cNvSpPr/>
          <p:nvPr/>
        </p:nvSpPr>
        <p:spPr>
          <a:xfrm>
            <a:off x="6848856" y="1280160"/>
            <a:ext cx="1828800" cy="2651760"/>
          </a:xfrm>
          <a:prstGeom prst="roundRect">
            <a:avLst>
              <a:gd name="adj" fmla="val 7000"/>
            </a:avLst>
          </a:prstGeom>
          <a:solidFill>
            <a:schemeClr val="bg2"/>
          </a:solidFill>
          <a:ln w="12700">
            <a:solidFill>
              <a:schemeClr val="bg2"/>
            </a:solidFill>
            <a:prstDash val="solid"/>
          </a:ln>
        </p:spPr>
      </p:sp>
      <p:sp>
        <p:nvSpPr>
          <p:cNvPr id="25" name="Step 4 circle"/>
          <p:cNvSpPr/>
          <p:nvPr/>
        </p:nvSpPr>
        <p:spPr>
          <a:xfrm>
            <a:off x="7306056" y="1554480"/>
            <a:ext cx="914400" cy="914400"/>
          </a:xfrm>
          <a:prstGeom prst="ellipse">
            <a:avLst/>
          </a:prstGeom>
          <a:solidFill>
            <a:schemeClr val="accent1"/>
          </a:solidFill>
          <a:ln w="12700">
            <a:solidFill>
              <a:schemeClr val="accent1"/>
            </a:solidFill>
            <a:prstDash val="solid"/>
          </a:ln>
        </p:spPr>
      </p:sp>
      <p:pic>
        <p:nvPicPr>
          <p:cNvPr id="26" name="Step 4 icon" descr="preencoded.png">    </p:cNvPr>
          <p:cNvPicPr>
            <a:picLocks noChangeAspect="1"/>
          </p:cNvPicPr>
          <p:nvPr/>
        </p:nvPicPr>
        <p:blipFill>
          <a:blip r:embed="rId7"/>
          <a:stretch>
            <a:fillRect/>
          </a:stretch>
        </p:blipFill>
        <p:spPr>
          <a:xfrm>
            <a:off x="7552944" y="1801368"/>
            <a:ext cx="420624" cy="420624"/>
          </a:xfrm>
          <a:prstGeom prst="rect">
            <a:avLst/>
          </a:prstGeom>
        </p:spPr>
      </p:pic>
      <p:sp>
        <p:nvSpPr>
          <p:cNvPr id="27" name="Text 18"/>
          <p:cNvSpPr txBox="1"/>
          <p:nvPr/>
        </p:nvSpPr>
        <p:spPr>
          <a:xfrm>
            <a:off x="6986016" y="1371600"/>
            <a:ext cx="365760" cy="365760"/>
          </a:xfrm>
          <a:prstGeom prst="rect">
            <a:avLst/>
          </a:prstGeom>
          <a:noFill/>
          <a:ln/>
        </p:spPr>
        <p:txBody>
          <a:bodyPr wrap="square" lIns="0" tIns="0" rIns="0" bIns="0" rtlCol="0" anchor="ctr"/>
          <a:lstStyle/>
          <a:p>
            <a:pPr indent="0" marL="0">
              <a:buNone/>
            </a:pPr>
            <a:r>
              <a:rPr lang="en-US" sz="1600" b="1" dirty="0">
                <a:solidFill>
                  <a:schemeClr val="accent6"/>
                </a:solidFill>
              </a:rPr>
              <a:t>4</a:t>
            </a:r>
            <a:endParaRPr lang="en-US" sz="1600" dirty="0"/>
          </a:p>
        </p:txBody>
      </p:sp>
      <p:sp>
        <p:nvSpPr>
          <p:cNvPr id="28" name="Text 19"/>
          <p:cNvSpPr txBox="1"/>
          <p:nvPr/>
        </p:nvSpPr>
        <p:spPr>
          <a:xfrm>
            <a:off x="6940296" y="2697480"/>
            <a:ext cx="1645920" cy="411480"/>
          </a:xfrm>
          <a:prstGeom prst="rect">
            <a:avLst/>
          </a:prstGeom>
          <a:noFill/>
          <a:ln/>
        </p:spPr>
        <p:txBody>
          <a:bodyPr wrap="square" lIns="0" tIns="0" rIns="0" bIns="0" rtlCol="0" anchor="ctr"/>
          <a:lstStyle/>
          <a:p>
            <a:pPr algn="ctr" indent="0" marL="0">
              <a:buNone/>
            </a:pPr>
            <a:r>
              <a:rPr lang="en-US" sz="1700" b="1" dirty="0">
                <a:solidFill>
                  <a:schemeClr val="tx2"/>
                </a:solidFill>
              </a:rPr>
              <a:t>Share and fix</a:t>
            </a:r>
            <a:endParaRPr lang="en-US" sz="1700" dirty="0"/>
          </a:p>
        </p:txBody>
      </p:sp>
      <p:sp>
        <p:nvSpPr>
          <p:cNvPr id="29" name="Text 20"/>
          <p:cNvSpPr txBox="1"/>
          <p:nvPr/>
        </p:nvSpPr>
        <p:spPr>
          <a:xfrm>
            <a:off x="6940296" y="3154680"/>
            <a:ext cx="1645920" cy="365760"/>
          </a:xfrm>
          <a:prstGeom prst="rect">
            <a:avLst/>
          </a:prstGeom>
          <a:noFill/>
          <a:ln/>
        </p:spPr>
        <p:txBody>
          <a:bodyPr wrap="square" lIns="0" tIns="0" rIns="0" bIns="0" rtlCol="0" anchor="ctr"/>
          <a:lstStyle/>
          <a:p>
            <a:pPr algn="ctr" indent="0" marL="0">
              <a:buNone/>
            </a:pPr>
            <a:r>
              <a:rPr lang="en-US" sz="1400" dirty="0">
                <a:solidFill>
                  <a:schemeClr val="accent6"/>
                </a:solidFill>
              </a:rPr>
              <a:t>PDF for the team</a:t>
            </a:r>
            <a:endParaRPr lang="en-US" sz="1400" dirty="0"/>
          </a:p>
        </p:txBody>
      </p:sp>
      <p:sp>
        <p:nvSpPr>
          <p:cNvPr id="30" name="Text 21"/>
          <p:cNvSpPr txBox="1"/>
          <p:nvPr/>
        </p:nvSpPr>
        <p:spPr>
          <a:xfrm>
            <a:off x="457200" y="4160520"/>
            <a:ext cx="8229600" cy="365760"/>
          </a:xfrm>
          <a:prstGeom prst="rect">
            <a:avLst/>
          </a:prstGeom>
          <a:noFill/>
          <a:ln/>
        </p:spPr>
        <p:txBody>
          <a:bodyPr wrap="square" lIns="0" tIns="0" rIns="0" bIns="0" rtlCol="0" anchor="ctr"/>
          <a:lstStyle/>
          <a:p>
            <a:pPr algn="ctr" indent="0" marL="0">
              <a:buNone/>
            </a:pPr>
            <a:r>
              <a:rPr lang="en-US" sz="1800" b="1" dirty="0">
                <a:solidFill>
                  <a:schemeClr val="accent1"/>
                </a:solidFill>
              </a:rPr>
              <a:t>No login. No obligation. Not a formal check.</a:t>
            </a:r>
            <a:endParaRPr lang="en-US" sz="1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Live demo</a:t>
            </a:r>
            <a:endParaRPr lang="en-US" sz="3600" dirty="0"/>
          </a:p>
        </p:txBody>
      </p:sp>
      <p:sp>
        <p:nvSpPr>
          <p:cNvPr id="3" name="Browser window"/>
          <p:cNvSpPr/>
          <p:nvPr/>
        </p:nvSpPr>
        <p:spPr>
          <a:xfrm>
            <a:off x="457200" y="1188720"/>
            <a:ext cx="4754880" cy="3337560"/>
          </a:xfrm>
          <a:prstGeom prst="roundRect">
            <a:avLst>
              <a:gd name="adj" fmla="val 3836"/>
            </a:avLst>
          </a:prstGeom>
          <a:solidFill>
            <a:schemeClr val="bg1"/>
          </a:solidFill>
          <a:ln w="12700">
            <a:solidFill>
              <a:schemeClr val="bg1"/>
            </a:solidFill>
            <a:prstDash val="solid"/>
          </a:ln>
          <a:effectLst>
            <a:outerShdw sx="100000" sy="100000" kx="0" ky="0" algn="bl" rotWithShape="0" blurRad="101600" dist="25400" dir="5400000">
              <a:srgbClr val="1E1B4B">
                <a:alpha val="12000"/>
              </a:srgbClr>
            </a:outerShdw>
          </a:effectLst>
        </p:spPr>
      </p:sp>
      <p:sp>
        <p:nvSpPr>
          <p:cNvPr id="4" name="Browser bar"/>
          <p:cNvSpPr/>
          <p:nvPr/>
        </p:nvSpPr>
        <p:spPr>
          <a:xfrm>
            <a:off x="457200" y="1188720"/>
            <a:ext cx="4754880" cy="411480"/>
          </a:xfrm>
          <a:prstGeom prst="roundRect">
            <a:avLst>
              <a:gd name="adj" fmla="val 31111"/>
            </a:avLst>
          </a:prstGeom>
          <a:solidFill>
            <a:schemeClr val="bg2"/>
          </a:solidFill>
          <a:ln w="12700">
            <a:solidFill>
              <a:schemeClr val="bg2"/>
            </a:solidFill>
            <a:prstDash val="solid"/>
          </a:ln>
        </p:spPr>
      </p:sp>
      <p:sp>
        <p:nvSpPr>
          <p:cNvPr id="5" name="Browser dot 1"/>
          <p:cNvSpPr/>
          <p:nvPr/>
        </p:nvSpPr>
        <p:spPr>
          <a:xfrm>
            <a:off x="621792" y="1335024"/>
            <a:ext cx="118872" cy="118872"/>
          </a:xfrm>
          <a:prstGeom prst="ellipse">
            <a:avLst/>
          </a:prstGeom>
          <a:solidFill>
            <a:srgbClr val="F43F5E"/>
          </a:solidFill>
          <a:ln w="12700">
            <a:solidFill>
              <a:srgbClr val="F43F5E"/>
            </a:solidFill>
            <a:prstDash val="solid"/>
          </a:ln>
        </p:spPr>
      </p:sp>
      <p:sp>
        <p:nvSpPr>
          <p:cNvPr id="6" name="Browser dot 2"/>
          <p:cNvSpPr/>
          <p:nvPr/>
        </p:nvSpPr>
        <p:spPr>
          <a:xfrm>
            <a:off x="804672" y="1335024"/>
            <a:ext cx="118872" cy="118872"/>
          </a:xfrm>
          <a:prstGeom prst="ellipse">
            <a:avLst/>
          </a:prstGeom>
          <a:solidFill>
            <a:srgbClr val="F59E0B"/>
          </a:solidFill>
          <a:ln w="12700">
            <a:solidFill>
              <a:srgbClr val="F59E0B"/>
            </a:solidFill>
            <a:prstDash val="solid"/>
          </a:ln>
        </p:spPr>
      </p:sp>
      <p:sp>
        <p:nvSpPr>
          <p:cNvPr id="7" name="Browser dot 3"/>
          <p:cNvSpPr/>
          <p:nvPr/>
        </p:nvSpPr>
        <p:spPr>
          <a:xfrm>
            <a:off x="987552" y="1335024"/>
            <a:ext cx="118872" cy="118872"/>
          </a:xfrm>
          <a:prstGeom prst="ellipse">
            <a:avLst/>
          </a:prstGeom>
          <a:solidFill>
            <a:srgbClr val="10B981"/>
          </a:solidFill>
          <a:ln w="12700">
            <a:solidFill>
              <a:srgbClr val="10B981"/>
            </a:solidFill>
            <a:prstDash val="solid"/>
          </a:ln>
        </p:spPr>
      </p:sp>
      <p:sp>
        <p:nvSpPr>
          <p:cNvPr id="8" name="Text 6"/>
          <p:cNvSpPr txBox="1"/>
          <p:nvPr/>
        </p:nvSpPr>
        <p:spPr>
          <a:xfrm>
            <a:off x="1325880" y="1243584"/>
            <a:ext cx="3749040" cy="301752"/>
          </a:xfrm>
          <a:prstGeom prst="rect">
            <a:avLst/>
          </a:prstGeom>
          <a:noFill/>
          <a:ln/>
        </p:spPr>
        <p:txBody>
          <a:bodyPr wrap="square" lIns="0" tIns="0" rIns="0" bIns="0" rtlCol="0" anchor="ctr"/>
          <a:lstStyle/>
          <a:p>
            <a:pPr indent="0" marL="0">
              <a:buNone/>
            </a:pPr>
            <a:r>
              <a:rPr lang="en-US" sz="1100" dirty="0">
                <a:solidFill>
                  <a:schemeClr val="accent6"/>
                </a:solidFill>
              </a:rPr>
              <a:t>d3gzttk0pa47dz.cloudfront.net</a:t>
            </a:r>
            <a:endParaRPr lang="en-US" sz="1100" dirty="0"/>
          </a:p>
        </p:txBody>
      </p:sp>
      <p:sp>
        <p:nvSpPr>
          <p:cNvPr id="9" name="Text 7"/>
          <p:cNvSpPr txBox="1"/>
          <p:nvPr/>
        </p:nvSpPr>
        <p:spPr>
          <a:xfrm>
            <a:off x="731520" y="1828800"/>
            <a:ext cx="420624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Check a government website</a:t>
            </a:r>
            <a:endParaRPr lang="en-US" sz="1800" dirty="0"/>
          </a:p>
        </p:txBody>
      </p:sp>
      <p:sp>
        <p:nvSpPr>
          <p:cNvPr id="10" name="Address input"/>
          <p:cNvSpPr/>
          <p:nvPr/>
        </p:nvSpPr>
        <p:spPr>
          <a:xfrm>
            <a:off x="731520" y="2377440"/>
            <a:ext cx="3017520" cy="502920"/>
          </a:xfrm>
          <a:prstGeom prst="roundRect">
            <a:avLst>
              <a:gd name="adj" fmla="val 14545"/>
            </a:avLst>
          </a:prstGeom>
          <a:solidFill>
            <a:schemeClr val="bg1"/>
          </a:solidFill>
          <a:ln w="12700">
            <a:solidFill>
              <a:schemeClr val="accent6"/>
            </a:solidFill>
            <a:prstDash val="solid"/>
          </a:ln>
        </p:spPr>
      </p:sp>
      <p:sp>
        <p:nvSpPr>
          <p:cNvPr id="11" name="Text 9"/>
          <p:cNvSpPr txBox="1"/>
          <p:nvPr/>
        </p:nvSpPr>
        <p:spPr>
          <a:xfrm>
            <a:off x="868680" y="2377440"/>
            <a:ext cx="2743200" cy="502920"/>
          </a:xfrm>
          <a:prstGeom prst="rect">
            <a:avLst/>
          </a:prstGeom>
          <a:noFill/>
          <a:ln/>
        </p:spPr>
        <p:txBody>
          <a:bodyPr wrap="square" lIns="0" tIns="0" rIns="0" bIns="0" rtlCol="0" anchor="ctr"/>
          <a:lstStyle/>
          <a:p>
            <a:pPr indent="0" marL="0">
              <a:buNone/>
            </a:pPr>
            <a:r>
              <a:rPr lang="en-US" sz="1500" dirty="0">
                <a:solidFill>
                  <a:schemeClr val="tx1"/>
                </a:solidFill>
              </a:rPr>
              <a:t>business.gov.au</a:t>
            </a:r>
            <a:endParaRPr lang="en-US" sz="1500" dirty="0"/>
          </a:p>
        </p:txBody>
      </p:sp>
      <p:sp>
        <p:nvSpPr>
          <p:cNvPr id="12" name="Check button"/>
          <p:cNvSpPr/>
          <p:nvPr/>
        </p:nvSpPr>
        <p:spPr>
          <a:xfrm>
            <a:off x="3840480" y="2377440"/>
            <a:ext cx="1097280" cy="502920"/>
          </a:xfrm>
          <a:prstGeom prst="roundRect">
            <a:avLst>
              <a:gd name="adj" fmla="val 14545"/>
            </a:avLst>
          </a:prstGeom>
          <a:solidFill>
            <a:schemeClr val="accent1"/>
          </a:solidFill>
          <a:ln w="12700">
            <a:solidFill>
              <a:schemeClr val="accent1"/>
            </a:solidFill>
            <a:prstDash val="solid"/>
          </a:ln>
        </p:spPr>
      </p:sp>
      <p:sp>
        <p:nvSpPr>
          <p:cNvPr id="13" name="Text 11"/>
          <p:cNvSpPr txBox="1"/>
          <p:nvPr/>
        </p:nvSpPr>
        <p:spPr>
          <a:xfrm>
            <a:off x="3840480" y="2377440"/>
            <a:ext cx="1097280" cy="502920"/>
          </a:xfrm>
          <a:prstGeom prst="rect">
            <a:avLst/>
          </a:prstGeom>
          <a:noFill/>
          <a:ln/>
        </p:spPr>
        <p:txBody>
          <a:bodyPr wrap="square" lIns="0" tIns="0" rIns="0" bIns="0" rtlCol="0" anchor="ctr"/>
          <a:lstStyle/>
          <a:p>
            <a:pPr algn="ctr" indent="0" marL="0">
              <a:buNone/>
            </a:pPr>
            <a:r>
              <a:rPr lang="en-US" sz="1500" b="1" dirty="0">
                <a:solidFill>
                  <a:schemeClr val="bg1"/>
                </a:solidFill>
              </a:rPr>
              <a:t>Check</a:t>
            </a:r>
            <a:endParaRPr lang="en-US" sz="1500" dirty="0"/>
          </a:p>
        </p:txBody>
      </p:sp>
      <p:sp>
        <p:nvSpPr>
          <p:cNvPr id="14" name="Result preview"/>
          <p:cNvSpPr/>
          <p:nvPr/>
        </p:nvSpPr>
        <p:spPr>
          <a:xfrm>
            <a:off x="731520" y="3154680"/>
            <a:ext cx="4206240" cy="1097280"/>
          </a:xfrm>
          <a:prstGeom prst="roundRect">
            <a:avLst>
              <a:gd name="adj" fmla="val 8333"/>
            </a:avLst>
          </a:prstGeom>
          <a:solidFill>
            <a:schemeClr val="bg2"/>
          </a:solidFill>
          <a:ln w="12700">
            <a:solidFill>
              <a:schemeClr val="bg2"/>
            </a:solidFill>
            <a:prstDash val="solid"/>
          </a:ln>
        </p:spPr>
      </p:sp>
      <p:sp>
        <p:nvSpPr>
          <p:cNvPr id="15" name="Text 13"/>
          <p:cNvSpPr txBox="1"/>
          <p:nvPr/>
        </p:nvSpPr>
        <p:spPr>
          <a:xfrm>
            <a:off x="914400" y="3154680"/>
            <a:ext cx="1280160" cy="109728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78%</a:t>
            </a:r>
            <a:endParaRPr lang="en-US" sz="4000" dirty="0"/>
          </a:p>
        </p:txBody>
      </p:sp>
      <p:sp>
        <p:nvSpPr>
          <p:cNvPr id="16" name="Text 14"/>
          <p:cNvSpPr txBox="1"/>
          <p:nvPr/>
        </p:nvSpPr>
        <p:spPr>
          <a:xfrm>
            <a:off x="2286000" y="3154680"/>
            <a:ext cx="2560320" cy="1097280"/>
          </a:xfrm>
          <a:prstGeom prst="rect">
            <a:avLst/>
          </a:prstGeom>
          <a:noFill/>
          <a:ln/>
        </p:spPr>
        <p:txBody>
          <a:bodyPr wrap="square" lIns="0" tIns="0" rIns="0" bIns="0" rtlCol="0" anchor="ctr"/>
          <a:lstStyle/>
          <a:p>
            <a:pPr indent="0" marL="0">
              <a:buNone/>
            </a:pPr>
            <a:r>
              <a:rPr lang="en-US" sz="1500" b="1" dirty="0">
                <a:solidFill>
                  <a:schemeClr val="tx2"/>
                </a:solidFill>
              </a:rPr>
              <a:t>10 pages checked</a:t>
            </a:r>
            <a:endParaRPr lang="en-US" sz="1500" dirty="0"/>
          </a:p>
          <a:p>
            <a:pPr indent="0" marL="0">
              <a:buNone/>
            </a:pPr>
            <a:r>
              <a:rPr lang="en-US" sz="1500" dirty="0">
                <a:solidFill>
                  <a:schemeClr val="tx2"/>
                </a:solidFill>
              </a:rPr>
              <a:t>In about 30 seconds</a:t>
            </a:r>
            <a:endParaRPr lang="en-US" sz="1500" dirty="0"/>
          </a:p>
        </p:txBody>
      </p:sp>
      <p:sp>
        <p:nvSpPr>
          <p:cNvPr id="17" name="Text 1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800" b="1" dirty="0">
                <a:solidFill>
                  <a:schemeClr val="accent2"/>
                </a:solidFill>
              </a:rPr>
              <a:t>What you’ll see</a:t>
            </a:r>
            <a:endParaRPr lang="en-US" sz="1800" dirty="0"/>
          </a:p>
        </p:txBody>
      </p:sp>
      <p:sp>
        <p:nvSpPr>
          <p:cNvPr id="18" name="State 1 circle"/>
          <p:cNvSpPr/>
          <p:nvPr/>
        </p:nvSpPr>
        <p:spPr>
          <a:xfrm>
            <a:off x="5577840" y="1691640"/>
            <a:ext cx="365760" cy="365760"/>
          </a:xfrm>
          <a:prstGeom prst="ellipse">
            <a:avLst/>
          </a:prstGeom>
          <a:solidFill>
            <a:schemeClr val="accent3"/>
          </a:solidFill>
          <a:ln w="12700">
            <a:solidFill>
              <a:schemeClr val="accent3"/>
            </a:solidFill>
            <a:prstDash val="solid"/>
          </a:ln>
        </p:spPr>
      </p:sp>
      <p:pic>
        <p:nvPicPr>
          <p:cNvPr id="19" name="State 1 icon" descr="preencoded.png">    </p:cNvPr>
          <p:cNvPicPr>
            <a:picLocks noChangeAspect="1"/>
          </p:cNvPicPr>
          <p:nvPr/>
        </p:nvPicPr>
        <p:blipFill>
          <a:blip r:embed="rId1"/>
          <a:stretch>
            <a:fillRect/>
          </a:stretch>
        </p:blipFill>
        <p:spPr>
          <a:xfrm>
            <a:off x="5676595" y="1790395"/>
            <a:ext cx="168250" cy="168250"/>
          </a:xfrm>
          <a:prstGeom prst="rect">
            <a:avLst/>
          </a:prstGeom>
        </p:spPr>
      </p:pic>
      <p:sp>
        <p:nvSpPr>
          <p:cNvPr id="20" name="Text 17"/>
          <p:cNvSpPr txBox="1"/>
          <p:nvPr/>
        </p:nvSpPr>
        <p:spPr>
          <a:xfrm>
            <a:off x="6080760" y="1691640"/>
            <a:ext cx="2606040" cy="365760"/>
          </a:xfrm>
          <a:prstGeom prst="rect">
            <a:avLst/>
          </a:prstGeom>
          <a:noFill/>
          <a:ln/>
        </p:spPr>
        <p:txBody>
          <a:bodyPr wrap="square" lIns="0" tIns="0" rIns="0" bIns="0" rtlCol="0" anchor="ctr"/>
          <a:lstStyle/>
          <a:p>
            <a:pPr indent="0" marL="0">
              <a:buNone/>
            </a:pPr>
            <a:r>
              <a:rPr lang="en-US" sz="1500" dirty="0">
                <a:solidFill>
                  <a:schemeClr val="bg1"/>
                </a:solidFill>
              </a:rPr>
              <a:t>Looks good</a:t>
            </a:r>
            <a:endParaRPr lang="en-US" sz="1500" dirty="0"/>
          </a:p>
        </p:txBody>
      </p:sp>
      <p:sp>
        <p:nvSpPr>
          <p:cNvPr id="21" name="State 2 circle"/>
          <p:cNvSpPr/>
          <p:nvPr/>
        </p:nvSpPr>
        <p:spPr>
          <a:xfrm>
            <a:off x="5577840" y="2194560"/>
            <a:ext cx="365760" cy="365760"/>
          </a:xfrm>
          <a:prstGeom prst="ellipse">
            <a:avLst/>
          </a:prstGeom>
          <a:solidFill>
            <a:schemeClr val="accent4"/>
          </a:solidFill>
          <a:ln w="12700">
            <a:solidFill>
              <a:schemeClr val="accent4"/>
            </a:solidFill>
            <a:prstDash val="solid"/>
          </a:ln>
        </p:spPr>
      </p:sp>
      <p:pic>
        <p:nvPicPr>
          <p:cNvPr id="22" name="State 2 icon" descr="preencoded.png">    </p:cNvPr>
          <p:cNvPicPr>
            <a:picLocks noChangeAspect="1"/>
          </p:cNvPicPr>
          <p:nvPr/>
        </p:nvPicPr>
        <p:blipFill>
          <a:blip r:embed="rId2"/>
          <a:stretch>
            <a:fillRect/>
          </a:stretch>
        </p:blipFill>
        <p:spPr>
          <a:xfrm>
            <a:off x="5676595" y="2293315"/>
            <a:ext cx="168250" cy="168250"/>
          </a:xfrm>
          <a:prstGeom prst="rect">
            <a:avLst/>
          </a:prstGeom>
        </p:spPr>
      </p:pic>
      <p:sp>
        <p:nvSpPr>
          <p:cNvPr id="23" name="Text 19"/>
          <p:cNvSpPr txBox="1"/>
          <p:nvPr/>
        </p:nvSpPr>
        <p:spPr>
          <a:xfrm>
            <a:off x="6080760" y="2194560"/>
            <a:ext cx="2606040" cy="365760"/>
          </a:xfrm>
          <a:prstGeom prst="rect">
            <a:avLst/>
          </a:prstGeom>
          <a:noFill/>
          <a:ln/>
        </p:spPr>
        <p:txBody>
          <a:bodyPr wrap="square" lIns="0" tIns="0" rIns="0" bIns="0" rtlCol="0" anchor="ctr"/>
          <a:lstStyle/>
          <a:p>
            <a:pPr indent="0" marL="0">
              <a:buNone/>
            </a:pPr>
            <a:r>
              <a:rPr lang="en-US" sz="1500" dirty="0">
                <a:solidFill>
                  <a:schemeClr val="bg1"/>
                </a:solidFill>
              </a:rPr>
              <a:t>Needs fixing</a:t>
            </a:r>
            <a:endParaRPr lang="en-US" sz="1500" dirty="0"/>
          </a:p>
        </p:txBody>
      </p:sp>
      <p:sp>
        <p:nvSpPr>
          <p:cNvPr id="24" name="State 3 circle"/>
          <p:cNvSpPr/>
          <p:nvPr/>
        </p:nvSpPr>
        <p:spPr>
          <a:xfrm>
            <a:off x="5577840" y="2697480"/>
            <a:ext cx="365760" cy="365760"/>
          </a:xfrm>
          <a:prstGeom prst="ellipse">
            <a:avLst/>
          </a:prstGeom>
          <a:solidFill>
            <a:schemeClr val="accent5"/>
          </a:solidFill>
          <a:ln w="12700">
            <a:solidFill>
              <a:schemeClr val="accent5"/>
            </a:solidFill>
            <a:prstDash val="solid"/>
          </a:ln>
        </p:spPr>
      </p:sp>
      <p:pic>
        <p:nvPicPr>
          <p:cNvPr id="25" name="State 3 icon" descr="preencoded.png">    </p:cNvPr>
          <p:cNvPicPr>
            <a:picLocks noChangeAspect="1"/>
          </p:cNvPicPr>
          <p:nvPr/>
        </p:nvPicPr>
        <p:blipFill>
          <a:blip r:embed="rId3"/>
          <a:stretch>
            <a:fillRect/>
          </a:stretch>
        </p:blipFill>
        <p:spPr>
          <a:xfrm>
            <a:off x="5676595" y="2796235"/>
            <a:ext cx="168250" cy="168250"/>
          </a:xfrm>
          <a:prstGeom prst="rect">
            <a:avLst/>
          </a:prstGeom>
        </p:spPr>
      </p:pic>
      <p:sp>
        <p:nvSpPr>
          <p:cNvPr id="26" name="Text 21"/>
          <p:cNvSpPr txBox="1"/>
          <p:nvPr/>
        </p:nvSpPr>
        <p:spPr>
          <a:xfrm>
            <a:off x="6080760" y="2697480"/>
            <a:ext cx="2606040" cy="365760"/>
          </a:xfrm>
          <a:prstGeom prst="rect">
            <a:avLst/>
          </a:prstGeom>
          <a:noFill/>
          <a:ln/>
        </p:spPr>
        <p:txBody>
          <a:bodyPr wrap="square" lIns="0" tIns="0" rIns="0" bIns="0" rtlCol="0" anchor="ctr"/>
          <a:lstStyle/>
          <a:p>
            <a:pPr indent="0" marL="0">
              <a:buNone/>
            </a:pPr>
            <a:r>
              <a:rPr lang="en-US" sz="1500" dirty="0">
                <a:solidFill>
                  <a:schemeClr val="bg1"/>
                </a:solidFill>
              </a:rPr>
              <a:t>Needs a person</a:t>
            </a:r>
            <a:endParaRPr lang="en-US" sz="1500" dirty="0"/>
          </a:p>
        </p:txBody>
      </p:sp>
      <p:sp>
        <p:nvSpPr>
          <p:cNvPr id="27" name="State 4 circle"/>
          <p:cNvSpPr/>
          <p:nvPr/>
        </p:nvSpPr>
        <p:spPr>
          <a:xfrm>
            <a:off x="5577840" y="3200400"/>
            <a:ext cx="365760" cy="365760"/>
          </a:xfrm>
          <a:prstGeom prst="ellipse">
            <a:avLst/>
          </a:prstGeom>
          <a:solidFill>
            <a:schemeClr val="accent6"/>
          </a:solidFill>
          <a:ln w="12700">
            <a:solidFill>
              <a:schemeClr val="accent6"/>
            </a:solidFill>
            <a:prstDash val="solid"/>
          </a:ln>
        </p:spPr>
      </p:sp>
      <p:pic>
        <p:nvPicPr>
          <p:cNvPr id="28" name="State 4 icon" descr="preencoded.png">    </p:cNvPr>
          <p:cNvPicPr>
            <a:picLocks noChangeAspect="1"/>
          </p:cNvPicPr>
          <p:nvPr/>
        </p:nvPicPr>
        <p:blipFill>
          <a:blip r:embed="rId4"/>
          <a:stretch>
            <a:fillRect/>
          </a:stretch>
        </p:blipFill>
        <p:spPr>
          <a:xfrm>
            <a:off x="5676595" y="3299155"/>
            <a:ext cx="168250" cy="168250"/>
          </a:xfrm>
          <a:prstGeom prst="rect">
            <a:avLst/>
          </a:prstGeom>
        </p:spPr>
      </p:pic>
      <p:sp>
        <p:nvSpPr>
          <p:cNvPr id="29" name="Text 23"/>
          <p:cNvSpPr txBox="1"/>
          <p:nvPr/>
        </p:nvSpPr>
        <p:spPr>
          <a:xfrm>
            <a:off x="6080760" y="3200400"/>
            <a:ext cx="2606040" cy="365760"/>
          </a:xfrm>
          <a:prstGeom prst="rect">
            <a:avLst/>
          </a:prstGeom>
          <a:noFill/>
          <a:ln/>
        </p:spPr>
        <p:txBody>
          <a:bodyPr wrap="square" lIns="0" tIns="0" rIns="0" bIns="0" rtlCol="0" anchor="ctr"/>
          <a:lstStyle/>
          <a:p>
            <a:pPr indent="0" marL="0">
              <a:buNone/>
            </a:pPr>
            <a:r>
              <a:rPr lang="en-US" sz="1500" dirty="0">
                <a:solidFill>
                  <a:schemeClr val="bg1"/>
                </a:solidFill>
              </a:rPr>
              <a:t>Can’t see from outside</a:t>
            </a:r>
            <a:endParaRPr lang="en-US" sz="1500" dirty="0"/>
          </a:p>
        </p:txBody>
      </p:sp>
      <p:sp>
        <p:nvSpPr>
          <p:cNvPr id="30" name="Text 24"/>
          <p:cNvSpPr txBox="1"/>
          <p:nvPr/>
        </p:nvSpPr>
        <p:spPr>
          <a:xfrm>
            <a:off x="5577840" y="3794760"/>
            <a:ext cx="3108960" cy="274320"/>
          </a:xfrm>
          <a:prstGeom prst="rect">
            <a:avLst/>
          </a:prstGeom>
          <a:noFill/>
          <a:ln/>
        </p:spPr>
        <p:txBody>
          <a:bodyPr wrap="square" lIns="0" tIns="0" rIns="0" bIns="0" rtlCol="0" anchor="ctr"/>
          <a:lstStyle/>
          <a:p>
            <a:pPr indent="0" marL="0">
              <a:buNone/>
            </a:pPr>
            <a:r>
              <a:rPr lang="en-US" sz="1300" b="1" dirty="0">
                <a:solidFill>
                  <a:schemeClr val="accent1"/>
                </a:solidFill>
              </a:rPr>
              <a:t>Also try</a:t>
            </a:r>
            <a:endParaRPr lang="en-US" sz="1300" dirty="0"/>
          </a:p>
        </p:txBody>
      </p:sp>
      <p:sp>
        <p:nvSpPr>
          <p:cNvPr id="31" name="Text 25"/>
          <p:cNvSpPr txBox="1"/>
          <p:nvPr/>
        </p:nvSpPr>
        <p:spPr>
          <a:xfrm>
            <a:off x="5577840" y="4069080"/>
            <a:ext cx="3108960" cy="457200"/>
          </a:xfrm>
          <a:prstGeom prst="rect">
            <a:avLst/>
          </a:prstGeom>
          <a:noFill/>
          <a:ln/>
        </p:spPr>
        <p:txBody>
          <a:bodyPr wrap="square" lIns="0" tIns="0" rIns="0" bIns="0" rtlCol="0" anchor="t"/>
          <a:lstStyle/>
          <a:p>
            <a:pPr indent="0" marL="0">
              <a:buNone/>
            </a:pPr>
            <a:r>
              <a:rPr lang="en-US" sz="1200" dirty="0">
                <a:solidFill>
                  <a:srgbClr val="C7D2FE"/>
                </a:solidFill>
              </a:rPr>
              <a:t>rba.gov.au  ·  aec.gov.au</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7D2F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How government is tracking</a:t>
            </a:r>
            <a:endParaRPr lang="en-US" sz="3600" dirty="0"/>
          </a:p>
        </p:txBody>
      </p:sp>
      <p:graphicFrame>
        <p:nvGraphicFramePr>
          <p:cNvPr id="3" name="Leaderboard chart" descr=""/>
          <p:cNvGraphicFramePr/>
          <p:nvPr/>
        </p:nvGraphicFramePr>
        <p:xfrm>
          <a:off x="365760" y="1097280"/>
          <a:ext cx="5486400" cy="3520440"/>
        </p:xfrm>
        <a:graphic xmlns:a="http://schemas.openxmlformats.org/drawingml/2006/main">
          <a:graphicData uri="http://schemas.openxmlformats.org/drawingml/2006/chart">
            <c:chart xmlns:c="http://schemas.openxmlformats.org/drawingml/2006/chart" r:id="rId1"/>
          </a:graphicData>
        </a:graphic>
      </p:graphicFrame>
      <p:sp>
        <p:nvSpPr>
          <p:cNvPr id="4" name="Stat 1"/>
          <p:cNvSpPr/>
          <p:nvPr/>
        </p:nvSpPr>
        <p:spPr>
          <a:xfrm>
            <a:off x="6217920" y="1234440"/>
            <a:ext cx="2468880" cy="1463040"/>
          </a:xfrm>
          <a:prstGeom prst="roundRect">
            <a:avLst>
              <a:gd name="adj" fmla="val 8750"/>
            </a:avLst>
          </a:prstGeom>
          <a:solidFill>
            <a:schemeClr val="bg2"/>
          </a:solidFill>
          <a:ln w="12700">
            <a:solidFill>
              <a:schemeClr val="bg2"/>
            </a:solidFill>
            <a:prstDash val="solid"/>
          </a:ln>
        </p:spPr>
      </p:sp>
      <p:sp>
        <p:nvSpPr>
          <p:cNvPr id="5" name="Stat 1 circle"/>
          <p:cNvSpPr/>
          <p:nvPr/>
        </p:nvSpPr>
        <p:spPr>
          <a:xfrm>
            <a:off x="6400800" y="1417320"/>
            <a:ext cx="457200" cy="457200"/>
          </a:xfrm>
          <a:prstGeom prst="ellipse">
            <a:avLst/>
          </a:prstGeom>
          <a:solidFill>
            <a:schemeClr val="accent1"/>
          </a:solidFill>
          <a:ln w="12700">
            <a:solidFill>
              <a:schemeClr val="accent1"/>
            </a:solidFill>
            <a:prstDash val="solid"/>
          </a:ln>
        </p:spPr>
      </p:sp>
      <p:pic>
        <p:nvPicPr>
          <p:cNvPr id="6" name="Stat 1 icon" descr="preencoded.png">    </p:cNvPr>
          <p:cNvPicPr>
            <a:picLocks noChangeAspect="1"/>
          </p:cNvPicPr>
          <p:nvPr/>
        </p:nvPicPr>
        <p:blipFill>
          <a:blip r:embed="rId2"/>
          <a:stretch>
            <a:fillRect/>
          </a:stretch>
        </p:blipFill>
        <p:spPr>
          <a:xfrm>
            <a:off x="6524244" y="1540764"/>
            <a:ext cx="210312" cy="210312"/>
          </a:xfrm>
          <a:prstGeom prst="rect">
            <a:avLst/>
          </a:prstGeom>
        </p:spPr>
      </p:pic>
      <p:sp>
        <p:nvSpPr>
          <p:cNvPr id="7" name="Text 3"/>
          <p:cNvSpPr txBox="1"/>
          <p:nvPr/>
        </p:nvSpPr>
        <p:spPr>
          <a:xfrm>
            <a:off x="6995160" y="1325880"/>
            <a:ext cx="1554480" cy="64008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7</a:t>
            </a:r>
            <a:endParaRPr lang="en-US" sz="4000" dirty="0"/>
          </a:p>
        </p:txBody>
      </p:sp>
      <p:sp>
        <p:nvSpPr>
          <p:cNvPr id="8" name="Text 4"/>
          <p:cNvSpPr txBox="1"/>
          <p:nvPr/>
        </p:nvSpPr>
        <p:spPr>
          <a:xfrm>
            <a:off x="6400800" y="2011680"/>
            <a:ext cx="2148840" cy="548640"/>
          </a:xfrm>
          <a:prstGeom prst="rect">
            <a:avLst/>
          </a:prstGeom>
          <a:noFill/>
          <a:ln/>
        </p:spPr>
        <p:txBody>
          <a:bodyPr wrap="square" lIns="0" tIns="0" rIns="0" bIns="0" rtlCol="0" anchor="t"/>
          <a:lstStyle/>
          <a:p>
            <a:pPr indent="0" marL="0">
              <a:buNone/>
            </a:pPr>
            <a:r>
              <a:rPr lang="en-US" sz="1400" dirty="0">
                <a:solidFill>
                  <a:schemeClr val="tx2"/>
                </a:solidFill>
              </a:rPr>
              <a:t>sites ranked</a:t>
            </a:r>
            <a:endParaRPr lang="en-US" sz="1400" dirty="0"/>
          </a:p>
        </p:txBody>
      </p:sp>
      <p:sp>
        <p:nvSpPr>
          <p:cNvPr id="9" name="Stat 2"/>
          <p:cNvSpPr/>
          <p:nvPr/>
        </p:nvSpPr>
        <p:spPr>
          <a:xfrm>
            <a:off x="6217920" y="2926080"/>
            <a:ext cx="2468880" cy="1463040"/>
          </a:xfrm>
          <a:prstGeom prst="roundRect">
            <a:avLst>
              <a:gd name="adj" fmla="val 8750"/>
            </a:avLst>
          </a:prstGeom>
          <a:solidFill>
            <a:schemeClr val="bg2"/>
          </a:solidFill>
          <a:ln w="12700">
            <a:solidFill>
              <a:schemeClr val="bg2"/>
            </a:solidFill>
            <a:prstDash val="solid"/>
          </a:ln>
        </p:spPr>
      </p:sp>
      <p:sp>
        <p:nvSpPr>
          <p:cNvPr id="10" name="Stat 2 circle"/>
          <p:cNvSpPr/>
          <p:nvPr/>
        </p:nvSpPr>
        <p:spPr>
          <a:xfrm>
            <a:off x="6400800" y="3108960"/>
            <a:ext cx="457200" cy="457200"/>
          </a:xfrm>
          <a:prstGeom prst="ellipse">
            <a:avLst/>
          </a:prstGeom>
          <a:solidFill>
            <a:schemeClr val="accent5"/>
          </a:solidFill>
          <a:ln w="12700">
            <a:solidFill>
              <a:schemeClr val="accent5"/>
            </a:solidFill>
            <a:prstDash val="solid"/>
          </a:ln>
        </p:spPr>
      </p:sp>
      <p:pic>
        <p:nvPicPr>
          <p:cNvPr id="11" name="Stat 2 icon" descr="preencoded.png">    </p:cNvPr>
          <p:cNvPicPr>
            <a:picLocks noChangeAspect="1"/>
          </p:cNvPicPr>
          <p:nvPr/>
        </p:nvPicPr>
        <p:blipFill>
          <a:blip r:embed="rId3"/>
          <a:stretch>
            <a:fillRect/>
          </a:stretch>
        </p:blipFill>
        <p:spPr>
          <a:xfrm>
            <a:off x="6524244" y="3232404"/>
            <a:ext cx="210312" cy="210312"/>
          </a:xfrm>
          <a:prstGeom prst="rect">
            <a:avLst/>
          </a:prstGeom>
        </p:spPr>
      </p:pic>
      <p:sp>
        <p:nvSpPr>
          <p:cNvPr id="12" name="Text 7"/>
          <p:cNvSpPr txBox="1"/>
          <p:nvPr/>
        </p:nvSpPr>
        <p:spPr>
          <a:xfrm>
            <a:off x="6995160" y="3017520"/>
            <a:ext cx="1554480" cy="64008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150</a:t>
            </a:r>
            <a:endParaRPr lang="en-US" sz="4000" dirty="0"/>
          </a:p>
        </p:txBody>
      </p:sp>
      <p:sp>
        <p:nvSpPr>
          <p:cNvPr id="13" name="Text 8"/>
          <p:cNvSpPr txBox="1"/>
          <p:nvPr/>
        </p:nvSpPr>
        <p:spPr>
          <a:xfrm>
            <a:off x="6400800" y="3703320"/>
            <a:ext cx="2148840" cy="548640"/>
          </a:xfrm>
          <a:prstGeom prst="rect">
            <a:avLst/>
          </a:prstGeom>
          <a:noFill/>
          <a:ln/>
        </p:spPr>
        <p:txBody>
          <a:bodyPr wrap="square" lIns="0" tIns="0" rIns="0" bIns="0" rtlCol="0" anchor="t"/>
          <a:lstStyle/>
          <a:p>
            <a:pPr indent="0" marL="0">
              <a:buNone/>
            </a:pPr>
            <a:r>
              <a:rPr lang="en-US" sz="1400" dirty="0">
                <a:solidFill>
                  <a:schemeClr val="tx2"/>
                </a:solidFill>
              </a:rPr>
              <a:t>pages per site, at most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What’s next: AI-assisted policy as code</a:t>
            </a:r>
            <a:endParaRPr lang="en-US" sz="3600" dirty="0"/>
          </a:p>
        </p:txBody>
      </p:sp>
      <p:sp>
        <p:nvSpPr>
          <p:cNvPr id="3" name="New pain point panel"/>
          <p:cNvSpPr/>
          <p:nvPr/>
        </p:nvSpPr>
        <p:spPr>
          <a:xfrm>
            <a:off x="457200" y="1188720"/>
            <a:ext cx="3749040" cy="2743200"/>
          </a:xfrm>
          <a:prstGeom prst="roundRect">
            <a:avLst>
              <a:gd name="adj" fmla="val 4667"/>
            </a:avLst>
          </a:prstGeom>
          <a:solidFill>
            <a:srgbClr val="312E81"/>
          </a:solidFill>
          <a:ln w="12700">
            <a:solidFill>
              <a:srgbClr val="312E81"/>
            </a:solidFill>
            <a:prstDash val="solid"/>
          </a:ln>
        </p:spPr>
      </p:sp>
      <p:sp>
        <p:nvSpPr>
          <p:cNvPr id="4" name="Text 2"/>
          <p:cNvSpPr txBox="1"/>
          <p:nvPr/>
        </p:nvSpPr>
        <p:spPr>
          <a:xfrm>
            <a:off x="685800" y="1325880"/>
            <a:ext cx="3291840" cy="411480"/>
          </a:xfrm>
          <a:prstGeom prst="rect">
            <a:avLst/>
          </a:prstGeom>
          <a:noFill/>
          <a:ln/>
        </p:spPr>
        <p:txBody>
          <a:bodyPr wrap="square" lIns="0" tIns="0" rIns="0" bIns="0" rtlCol="0" anchor="ctr"/>
          <a:lstStyle/>
          <a:p>
            <a:pPr indent="0" marL="0">
              <a:buNone/>
            </a:pPr>
            <a:r>
              <a:rPr lang="en-US" sz="1800" b="1" dirty="0">
                <a:solidFill>
                  <a:schemeClr val="accent1"/>
                </a:solidFill>
              </a:rPr>
              <a:t>A new pain point</a:t>
            </a:r>
            <a:endParaRPr lang="en-US" sz="1800" dirty="0"/>
          </a:p>
        </p:txBody>
      </p:sp>
      <p:sp>
        <p:nvSpPr>
          <p:cNvPr id="5" name="Pain 1 circle"/>
          <p:cNvSpPr/>
          <p:nvPr/>
        </p:nvSpPr>
        <p:spPr>
          <a:xfrm>
            <a:off x="685800" y="1965960"/>
            <a:ext cx="548640" cy="548640"/>
          </a:xfrm>
          <a:prstGeom prst="ellipse">
            <a:avLst/>
          </a:prstGeom>
          <a:solidFill>
            <a:schemeClr val="accent1"/>
          </a:solidFill>
          <a:ln w="12700">
            <a:solidFill>
              <a:schemeClr val="accent1"/>
            </a:solidFill>
            <a:prstDash val="solid"/>
          </a:ln>
        </p:spPr>
      </p:sp>
      <p:pic>
        <p:nvPicPr>
          <p:cNvPr id="6" name="Pain 1 icon" descr="preencoded.png">    </p:cNvPr>
          <p:cNvPicPr>
            <a:picLocks noChangeAspect="1"/>
          </p:cNvPicPr>
          <p:nvPr/>
        </p:nvPicPr>
        <p:blipFill>
          <a:blip r:embed="rId1"/>
          <a:stretch>
            <a:fillRect/>
          </a:stretch>
        </p:blipFill>
        <p:spPr>
          <a:xfrm>
            <a:off x="833933" y="2114093"/>
            <a:ext cx="252374" cy="252374"/>
          </a:xfrm>
          <a:prstGeom prst="rect">
            <a:avLst/>
          </a:prstGeom>
        </p:spPr>
      </p:pic>
      <p:sp>
        <p:nvSpPr>
          <p:cNvPr id="7" name="Text 4"/>
          <p:cNvSpPr txBox="1"/>
          <p:nvPr/>
        </p:nvSpPr>
        <p:spPr>
          <a:xfrm>
            <a:off x="1371600" y="1965960"/>
            <a:ext cx="2697480" cy="548640"/>
          </a:xfrm>
          <a:prstGeom prst="rect">
            <a:avLst/>
          </a:prstGeom>
          <a:noFill/>
          <a:ln/>
        </p:spPr>
        <p:txBody>
          <a:bodyPr wrap="square" lIns="0" tIns="0" rIns="0" bIns="0" rtlCol="0" anchor="ctr"/>
          <a:lstStyle/>
          <a:p>
            <a:pPr indent="0" marL="0">
              <a:buNone/>
            </a:pPr>
            <a:r>
              <a:rPr lang="en-US" sz="1600" b="1" dirty="0">
                <a:solidFill>
                  <a:schemeClr val="bg1"/>
                </a:solidFill>
              </a:rPr>
              <a:t>Turning policy into tests is slow</a:t>
            </a:r>
            <a:endParaRPr lang="en-US" sz="1600" dirty="0"/>
          </a:p>
        </p:txBody>
      </p:sp>
      <p:sp>
        <p:nvSpPr>
          <p:cNvPr id="8" name="Pain 2 circle"/>
          <p:cNvSpPr/>
          <p:nvPr/>
        </p:nvSpPr>
        <p:spPr>
          <a:xfrm>
            <a:off x="685800" y="2926080"/>
            <a:ext cx="548640" cy="548640"/>
          </a:xfrm>
          <a:prstGeom prst="ellipse">
            <a:avLst/>
          </a:prstGeom>
          <a:solidFill>
            <a:schemeClr val="accent1"/>
          </a:solidFill>
          <a:ln w="12700">
            <a:solidFill>
              <a:schemeClr val="accent1"/>
            </a:solidFill>
            <a:prstDash val="solid"/>
          </a:ln>
        </p:spPr>
      </p:sp>
      <p:pic>
        <p:nvPicPr>
          <p:cNvPr id="9" name="Pain 2 icon" descr="preencoded.png">    </p:cNvPr>
          <p:cNvPicPr>
            <a:picLocks noChangeAspect="1"/>
          </p:cNvPicPr>
          <p:nvPr/>
        </p:nvPicPr>
        <p:blipFill>
          <a:blip r:embed="rId2"/>
          <a:stretch>
            <a:fillRect/>
          </a:stretch>
        </p:blipFill>
        <p:spPr>
          <a:xfrm>
            <a:off x="833933" y="3074213"/>
            <a:ext cx="252374" cy="252374"/>
          </a:xfrm>
          <a:prstGeom prst="rect">
            <a:avLst/>
          </a:prstGeom>
        </p:spPr>
      </p:pic>
      <p:sp>
        <p:nvSpPr>
          <p:cNvPr id="10" name="Text 6"/>
          <p:cNvSpPr txBox="1"/>
          <p:nvPr/>
        </p:nvSpPr>
        <p:spPr>
          <a:xfrm>
            <a:off x="1371600" y="2926080"/>
            <a:ext cx="2697480" cy="548640"/>
          </a:xfrm>
          <a:prstGeom prst="rect">
            <a:avLst/>
          </a:prstGeom>
          <a:noFill/>
          <a:ln/>
        </p:spPr>
        <p:txBody>
          <a:bodyPr wrap="square" lIns="0" tIns="0" rIns="0" bIns="0" rtlCol="0" anchor="ctr"/>
          <a:lstStyle/>
          <a:p>
            <a:pPr indent="0" marL="0">
              <a:buNone/>
            </a:pPr>
            <a:r>
              <a:rPr lang="en-US" sz="1600" b="1" dirty="0">
                <a:solidFill>
                  <a:schemeClr val="bg1"/>
                </a:solidFill>
              </a:rPr>
              <a:t>Policy wording is vague to test</a:t>
            </a:r>
            <a:endParaRPr lang="en-US" sz="1600" dirty="0"/>
          </a:p>
        </p:txBody>
      </p:sp>
      <p:pic>
        <p:nvPicPr>
          <p:cNvPr id="11" name="Pain to plan arrow" descr="preencoded.png">    </p:cNvPr>
          <p:cNvPicPr>
            <a:picLocks noChangeAspect="1"/>
          </p:cNvPicPr>
          <p:nvPr/>
        </p:nvPicPr>
        <p:blipFill>
          <a:blip r:embed="rId3"/>
          <a:stretch>
            <a:fillRect/>
          </a:stretch>
        </p:blipFill>
        <p:spPr>
          <a:xfrm>
            <a:off x="4370832" y="2331720"/>
            <a:ext cx="411480" cy="411480"/>
          </a:xfrm>
          <a:prstGeom prst="rect">
            <a:avLst/>
          </a:prstGeom>
        </p:spPr>
      </p:pic>
      <p:sp>
        <p:nvSpPr>
          <p:cNvPr id="12" name="Plan panel"/>
          <p:cNvSpPr/>
          <p:nvPr/>
        </p:nvSpPr>
        <p:spPr>
          <a:xfrm>
            <a:off x="4937760" y="1188720"/>
            <a:ext cx="3749040" cy="2743200"/>
          </a:xfrm>
          <a:prstGeom prst="roundRect">
            <a:avLst>
              <a:gd name="adj" fmla="val 4667"/>
            </a:avLst>
          </a:prstGeom>
          <a:solidFill>
            <a:srgbClr val="312E81"/>
          </a:solidFill>
          <a:ln w="12700">
            <a:solidFill>
              <a:srgbClr val="312E81"/>
            </a:solidFill>
            <a:prstDash val="solid"/>
          </a:ln>
        </p:spPr>
      </p:sp>
      <p:sp>
        <p:nvSpPr>
          <p:cNvPr id="13" name="Text 8"/>
          <p:cNvSpPr txBox="1"/>
          <p:nvPr/>
        </p:nvSpPr>
        <p:spPr>
          <a:xfrm>
            <a:off x="5166360" y="1325880"/>
            <a:ext cx="3291840" cy="411480"/>
          </a:xfrm>
          <a:prstGeom prst="rect">
            <a:avLst/>
          </a:prstGeom>
          <a:noFill/>
          <a:ln/>
        </p:spPr>
        <p:txBody>
          <a:bodyPr wrap="square" lIns="0" tIns="0" rIns="0" bIns="0" rtlCol="0" anchor="ctr"/>
          <a:lstStyle/>
          <a:p>
            <a:pPr indent="0" marL="0">
              <a:buNone/>
            </a:pPr>
            <a:r>
              <a:rPr lang="en-US" sz="1800" b="1" dirty="0">
                <a:solidFill>
                  <a:schemeClr val="accent2"/>
                </a:solidFill>
              </a:rPr>
              <a:t>Our plan</a:t>
            </a:r>
            <a:endParaRPr lang="en-US" sz="1800" dirty="0"/>
          </a:p>
        </p:txBody>
      </p:sp>
      <p:sp>
        <p:nvSpPr>
          <p:cNvPr id="14" name="Plan 1 circle"/>
          <p:cNvSpPr/>
          <p:nvPr/>
        </p:nvSpPr>
        <p:spPr>
          <a:xfrm>
            <a:off x="5166360" y="1874520"/>
            <a:ext cx="502920" cy="502920"/>
          </a:xfrm>
          <a:prstGeom prst="ellipse">
            <a:avLst/>
          </a:prstGeom>
          <a:solidFill>
            <a:schemeClr val="accent2"/>
          </a:solidFill>
          <a:ln w="12700">
            <a:solidFill>
              <a:schemeClr val="accent2"/>
            </a:solidFill>
            <a:prstDash val="solid"/>
          </a:ln>
        </p:spPr>
      </p:sp>
      <p:pic>
        <p:nvPicPr>
          <p:cNvPr id="15" name="Plan 1 icon" descr="preencoded.png">    </p:cNvPr>
          <p:cNvPicPr>
            <a:picLocks noChangeAspect="1"/>
          </p:cNvPicPr>
          <p:nvPr/>
        </p:nvPicPr>
        <p:blipFill>
          <a:blip r:embed="rId4"/>
          <a:stretch>
            <a:fillRect/>
          </a:stretch>
        </p:blipFill>
        <p:spPr>
          <a:xfrm>
            <a:off x="5302148" y="2010308"/>
            <a:ext cx="231343" cy="231343"/>
          </a:xfrm>
          <a:prstGeom prst="rect">
            <a:avLst/>
          </a:prstGeom>
        </p:spPr>
      </p:pic>
      <p:sp>
        <p:nvSpPr>
          <p:cNvPr id="16" name="Text 10"/>
          <p:cNvSpPr txBox="1"/>
          <p:nvPr/>
        </p:nvSpPr>
        <p:spPr>
          <a:xfrm>
            <a:off x="5806440" y="1874520"/>
            <a:ext cx="2743200" cy="502920"/>
          </a:xfrm>
          <a:prstGeom prst="rect">
            <a:avLst/>
          </a:prstGeom>
          <a:noFill/>
          <a:ln/>
        </p:spPr>
        <p:txBody>
          <a:bodyPr wrap="square" lIns="0" tIns="0" rIns="0" bIns="0" rtlCol="0" anchor="ctr"/>
          <a:lstStyle/>
          <a:p>
            <a:pPr indent="0" marL="0">
              <a:buNone/>
            </a:pPr>
            <a:r>
              <a:rPr lang="en-US" sz="1600" b="1" dirty="0">
                <a:solidFill>
                  <a:schemeClr val="bg1"/>
                </a:solidFill>
              </a:rPr>
              <a:t>AI reads each criterion</a:t>
            </a:r>
            <a:endParaRPr lang="en-US" sz="1600" dirty="0"/>
          </a:p>
        </p:txBody>
      </p:sp>
      <p:sp>
        <p:nvSpPr>
          <p:cNvPr id="17" name="Plan 2 circle"/>
          <p:cNvSpPr/>
          <p:nvPr/>
        </p:nvSpPr>
        <p:spPr>
          <a:xfrm>
            <a:off x="5166360" y="2532888"/>
            <a:ext cx="502920" cy="502920"/>
          </a:xfrm>
          <a:prstGeom prst="ellipse">
            <a:avLst/>
          </a:prstGeom>
          <a:solidFill>
            <a:schemeClr val="accent2"/>
          </a:solidFill>
          <a:ln w="12700">
            <a:solidFill>
              <a:schemeClr val="accent2"/>
            </a:solidFill>
            <a:prstDash val="solid"/>
          </a:ln>
        </p:spPr>
      </p:sp>
      <p:pic>
        <p:nvPicPr>
          <p:cNvPr id="18" name="Plan 2 icon" descr="preencoded.png">    </p:cNvPr>
          <p:cNvPicPr>
            <a:picLocks noChangeAspect="1"/>
          </p:cNvPicPr>
          <p:nvPr/>
        </p:nvPicPr>
        <p:blipFill>
          <a:blip r:embed="rId5"/>
          <a:stretch>
            <a:fillRect/>
          </a:stretch>
        </p:blipFill>
        <p:spPr>
          <a:xfrm>
            <a:off x="5302148" y="2668676"/>
            <a:ext cx="231343" cy="231343"/>
          </a:xfrm>
          <a:prstGeom prst="rect">
            <a:avLst/>
          </a:prstGeom>
        </p:spPr>
      </p:pic>
      <p:sp>
        <p:nvSpPr>
          <p:cNvPr id="19" name="Text 12"/>
          <p:cNvSpPr txBox="1"/>
          <p:nvPr/>
        </p:nvSpPr>
        <p:spPr>
          <a:xfrm>
            <a:off x="5806440" y="2532888"/>
            <a:ext cx="2743200" cy="502920"/>
          </a:xfrm>
          <a:prstGeom prst="rect">
            <a:avLst/>
          </a:prstGeom>
          <a:noFill/>
          <a:ln/>
        </p:spPr>
        <p:txBody>
          <a:bodyPr wrap="square" lIns="0" tIns="0" rIns="0" bIns="0" rtlCol="0" anchor="ctr"/>
          <a:lstStyle/>
          <a:p>
            <a:pPr indent="0" marL="0">
              <a:buNone/>
            </a:pPr>
            <a:r>
              <a:rPr lang="en-US" sz="1600" b="1" dirty="0">
                <a:solidFill>
                  <a:schemeClr val="bg1"/>
                </a:solidFill>
              </a:rPr>
              <a:t>Drafts clear, testable checks</a:t>
            </a:r>
            <a:endParaRPr lang="en-US" sz="1600" dirty="0"/>
          </a:p>
        </p:txBody>
      </p:sp>
      <p:sp>
        <p:nvSpPr>
          <p:cNvPr id="20" name="Plan 3 circle"/>
          <p:cNvSpPr/>
          <p:nvPr/>
        </p:nvSpPr>
        <p:spPr>
          <a:xfrm>
            <a:off x="5166360" y="3191256"/>
            <a:ext cx="502920" cy="502920"/>
          </a:xfrm>
          <a:prstGeom prst="ellipse">
            <a:avLst/>
          </a:prstGeom>
          <a:solidFill>
            <a:schemeClr val="accent2"/>
          </a:solidFill>
          <a:ln w="12700">
            <a:solidFill>
              <a:schemeClr val="accent2"/>
            </a:solidFill>
            <a:prstDash val="solid"/>
          </a:ln>
        </p:spPr>
      </p:sp>
      <p:pic>
        <p:nvPicPr>
          <p:cNvPr id="21" name="Plan 3 icon" descr="preencoded.png">    </p:cNvPr>
          <p:cNvPicPr>
            <a:picLocks noChangeAspect="1"/>
          </p:cNvPicPr>
          <p:nvPr/>
        </p:nvPicPr>
        <p:blipFill>
          <a:blip r:embed="rId6"/>
          <a:stretch>
            <a:fillRect/>
          </a:stretch>
        </p:blipFill>
        <p:spPr>
          <a:xfrm>
            <a:off x="5302148" y="3327044"/>
            <a:ext cx="231343" cy="231343"/>
          </a:xfrm>
          <a:prstGeom prst="rect">
            <a:avLst/>
          </a:prstGeom>
        </p:spPr>
      </p:pic>
      <p:sp>
        <p:nvSpPr>
          <p:cNvPr id="22" name="Text 14"/>
          <p:cNvSpPr txBox="1"/>
          <p:nvPr/>
        </p:nvSpPr>
        <p:spPr>
          <a:xfrm>
            <a:off x="5806440" y="3191256"/>
            <a:ext cx="2743200" cy="502920"/>
          </a:xfrm>
          <a:prstGeom prst="rect">
            <a:avLst/>
          </a:prstGeom>
          <a:noFill/>
          <a:ln/>
        </p:spPr>
        <p:txBody>
          <a:bodyPr wrap="square" lIns="0" tIns="0" rIns="0" bIns="0" rtlCol="0" anchor="ctr"/>
          <a:lstStyle/>
          <a:p>
            <a:pPr indent="0" marL="0">
              <a:buNone/>
            </a:pPr>
            <a:r>
              <a:rPr lang="en-US" sz="1600" b="1" dirty="0">
                <a:solidFill>
                  <a:schemeClr val="bg1"/>
                </a:solidFill>
              </a:rPr>
              <a:t>People review and approve</a:t>
            </a:r>
            <a:endParaRPr lang="en-US" sz="1600" dirty="0"/>
          </a:p>
        </p:txBody>
      </p:sp>
      <p:sp>
        <p:nvSpPr>
          <p:cNvPr id="23" name="Text 15"/>
          <p:cNvSpPr txBox="1"/>
          <p:nvPr/>
        </p:nvSpPr>
        <p:spPr>
          <a:xfrm>
            <a:off x="457200" y="4114800"/>
            <a:ext cx="8229600" cy="365760"/>
          </a:xfrm>
          <a:prstGeom prst="rect">
            <a:avLst/>
          </a:prstGeom>
          <a:noFill/>
          <a:ln/>
        </p:spPr>
        <p:txBody>
          <a:bodyPr wrap="square" lIns="0" tIns="0" rIns="0" bIns="0" rtlCol="0" anchor="ctr"/>
          <a:lstStyle/>
          <a:p>
            <a:pPr algn="ctr" indent="0" marL="0">
              <a:buNone/>
            </a:pPr>
            <a:r>
              <a:rPr lang="en-US" sz="1400" i="1" dirty="0">
                <a:solidFill>
                  <a:srgbClr val="C7D2FE"/>
                </a:solidFill>
              </a:rPr>
              <a:t>Also coming: real-visitor speed data  ·  more agencies  ·  track progress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7D2FE"/>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Indigo Coral">
  <a:themeElements>
    <a:clrScheme name="Indigo Coral">
      <a:dk1>
        <a:srgbClr val="1E1B4B"/>
      </a:dk1>
      <a:lt1>
        <a:srgbClr val="FFFFFF"/>
      </a:lt1>
      <a:dk2>
        <a:srgbClr val="1E1B4B"/>
      </a:dk2>
      <a:lt2>
        <a:srgbClr val="EEF0FF"/>
      </a:lt2>
      <a:accent1>
        <a:srgbClr val="FF6B5B"/>
      </a:accent1>
      <a:accent2>
        <a:srgbClr val="14B8A6"/>
      </a:accent2>
      <a:accent3>
        <a:srgbClr val="10B981"/>
      </a:accent3>
      <a:accent4>
        <a:srgbClr val="F43F5E"/>
      </a:accent4>
      <a:accent5>
        <a:srgbClr val="8B5CF6"/>
      </a:accent5>
      <a:accent6>
        <a:srgbClr val="64748B"/>
      </a:accent6>
      <a:hlink>
        <a:srgbClr val="14B8A6"/>
      </a:hlink>
      <a:folHlink>
        <a:srgbClr val="8B5CF6"/>
      </a:folHlink>
    </a:clrScheme>
    <a:fontScheme name="Indigo Cor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DXP Scanner</dc:title>
  <dc:subject>PptxGenJS Presentation</dc:subject>
  <dc:creator>DXP Scanner</dc:creator>
  <cp:lastModifiedBy>DXP Scanner</cp:lastModifiedBy>
  <cp:revision>1</cp:revision>
  <dcterms:created xsi:type="dcterms:W3CDTF">2026-10-14T04:33:08Z</dcterms:created>
  <dcterms:modified xsi:type="dcterms:W3CDTF">2026-10-14T04:33:08Z</dcterms:modified>
</cp:coreProperties>
</file>